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9" r:id="rId8"/>
    <p:sldId id="267" r:id="rId9"/>
    <p:sldId id="268" r:id="rId10"/>
    <p:sldId id="262" r:id="rId11"/>
    <p:sldId id="263" r:id="rId12"/>
    <p:sldId id="264" r:id="rId13"/>
    <p:sldId id="265" r:id="rId14"/>
    <p:sldId id="266" r:id="rId15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1" d="100"/>
          <a:sy n="101" d="100"/>
        </p:scale>
        <p:origin x="954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9FBFE"/>
            </a:gs>
            <a:gs pos="100000">
              <a:srgbClr val="E1E6ED"/>
            </a:gs>
          </a:gsLst>
          <a:lin ang="16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14400" y="228600"/>
            <a:ext cx="103601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C3C9D5"/>
                </a:solidFill>
              </a:defRPr>
            </a:pPr>
            <a:r>
              <a:t>Eco-Matic Midterm Showcase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6693948" cy="14927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E1926"/>
                </a:solidFill>
              </a:defRPr>
            </a:pPr>
            <a:r>
              <a:rPr dirty="0"/>
              <a:t>Eco-Matic Vending Machine</a:t>
            </a:r>
          </a:p>
          <a:p>
            <a:pPr>
              <a:spcBef>
                <a:spcPts val="600"/>
              </a:spcBef>
              <a:defRPr sz="2400">
                <a:solidFill>
                  <a:srgbClr val="222830"/>
                </a:solidFill>
              </a:defRPr>
            </a:pPr>
            <a:r>
              <a:rPr dirty="0"/>
              <a:t>Console Application in C#</a:t>
            </a:r>
          </a:p>
          <a:p>
            <a:pPr>
              <a:defRPr sz="1800">
                <a:solidFill>
                  <a:srgbClr val="7E8999"/>
                </a:solidFill>
              </a:defRPr>
            </a:pPr>
            <a:r>
              <a:rPr lang="en-US" dirty="0"/>
              <a:t>Conde </a:t>
            </a:r>
            <a:r>
              <a:rPr dirty="0"/>
              <a:t>· </a:t>
            </a:r>
            <a:r>
              <a:rPr lang="en-US" dirty="0"/>
              <a:t> </a:t>
            </a:r>
            <a:r>
              <a:rPr dirty="0"/>
              <a:t>Sustainable Tech Midterm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840480"/>
            <a:ext cx="2011680" cy="109728"/>
          </a:xfrm>
          <a:prstGeom prst="rect">
            <a:avLst/>
          </a:prstGeom>
          <a:solidFill>
            <a:srgbClr val="4AC7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10360152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222830"/>
                </a:solidFill>
              </a:defRPr>
            </a:pPr>
            <a:r>
              <a:t>Simple, data-backed walkthrough of our SDG-focused vending concept.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0232" y="621792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7E8999"/>
                </a:solidFill>
              </a:defRPr>
            </a:pPr>
            <a:endParaRPr/>
          </a:p>
        </p:txBody>
      </p:sp>
    </p:spTree>
  </p:cSld>
  <p:clrMapOvr>
    <a:masterClrMapping/>
  </p:clrMapOvr>
  <p:transition spd="slow">
    <p:push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9FBFE"/>
            </a:gs>
            <a:gs pos="100000">
              <a:srgbClr val="E1E6ED"/>
            </a:gs>
          </a:gsLst>
          <a:lin ang="16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/>
        </p:nvSpPr>
        <p:spPr>
          <a:xfrm>
            <a:off x="457200" y="320040"/>
            <a:ext cx="960120" cy="411480"/>
          </a:xfrm>
          <a:prstGeom prst="roundRect">
            <a:avLst/>
          </a:prstGeom>
          <a:solidFill>
            <a:srgbClr val="FFC4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 b="1">
                <a:solidFill>
                  <a:srgbClr val="3C2814"/>
                </a:solidFill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6868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E1926"/>
                </a:solidFill>
              </a:defRPr>
            </a:pPr>
            <a:r>
              <a:t>Project Overview</a:t>
            </a:r>
          </a:p>
          <a:p>
            <a:pPr>
              <a:defRPr sz="1800">
                <a:solidFill>
                  <a:srgbClr val="7E8999"/>
                </a:solidFill>
              </a:defRPr>
            </a:pPr>
            <a:r>
              <a:t>Purpose • Features • Audience • 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10844444" cy="228780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2100">
                <a:solidFill>
                  <a:srgbClr val="222830"/>
                </a:solidFill>
              </a:defRPr>
            </a:pPr>
            <a:r>
              <a:rPr b="1" dirty="0"/>
              <a:t>Purpose: </a:t>
            </a:r>
            <a:r>
              <a:rPr dirty="0"/>
              <a:t>Console-based </a:t>
            </a:r>
            <a:r>
              <a:rPr lang="en-US" dirty="0"/>
              <a:t>vending machine</a:t>
            </a:r>
            <a:r>
              <a:rPr dirty="0"/>
              <a:t> that rewards recycling to </a:t>
            </a:r>
            <a:r>
              <a:rPr lang="en-US" dirty="0"/>
              <a:t>help with the SDG’s</a:t>
            </a:r>
            <a:r>
              <a:rPr dirty="0"/>
              <a:t>.</a:t>
            </a:r>
            <a:endParaRPr lang="en-US" dirty="0"/>
          </a:p>
          <a:p>
            <a:pPr>
              <a:spcAft>
                <a:spcPts val="400"/>
              </a:spcAft>
              <a:defRPr sz="2100">
                <a:solidFill>
                  <a:srgbClr val="222830"/>
                </a:solidFill>
              </a:defRPr>
            </a:pPr>
            <a:endParaRPr dirty="0"/>
          </a:p>
          <a:p>
            <a:pPr>
              <a:spcAft>
                <a:spcPts val="400"/>
              </a:spcAft>
              <a:defRPr sz="2100">
                <a:solidFill>
                  <a:srgbClr val="222830"/>
                </a:solidFill>
              </a:defRPr>
            </a:pPr>
            <a:r>
              <a:rPr b="1" dirty="0"/>
              <a:t>Features: </a:t>
            </a:r>
            <a:r>
              <a:rPr dirty="0"/>
              <a:t>Dual customer/admin flows, CSV persistence, </a:t>
            </a:r>
            <a:r>
              <a:rPr dirty="0" err="1"/>
              <a:t>Spectre.Console</a:t>
            </a:r>
            <a:r>
              <a:rPr dirty="0"/>
              <a:t> dashboards, UTC logging.</a:t>
            </a:r>
          </a:p>
          <a:p>
            <a:pPr>
              <a:spcAft>
                <a:spcPts val="400"/>
              </a:spcAft>
              <a:defRPr sz="2100">
                <a:solidFill>
                  <a:srgbClr val="222830"/>
                </a:solidFill>
              </a:defRPr>
            </a:pPr>
            <a:r>
              <a:rPr dirty="0"/>
              <a:t>Target Audience: Instructors, classmates, and sustainability advocates evaluating the concept.</a:t>
            </a:r>
            <a:endParaRPr lang="en-US" dirty="0"/>
          </a:p>
          <a:p>
            <a:pPr>
              <a:spcAft>
                <a:spcPts val="400"/>
              </a:spcAft>
              <a:defRPr sz="2100">
                <a:solidFill>
                  <a:srgbClr val="222830"/>
                </a:solidFill>
              </a:defRPr>
            </a:pPr>
            <a:endParaRPr dirty="0"/>
          </a:p>
          <a:p>
            <a:pPr>
              <a:spcAft>
                <a:spcPts val="400"/>
              </a:spcAft>
              <a:defRPr sz="2100">
                <a:solidFill>
                  <a:srgbClr val="222830"/>
                </a:solidFill>
              </a:defRPr>
            </a:pPr>
            <a:r>
              <a:rPr b="1" dirty="0"/>
              <a:t>Technology Stack: </a:t>
            </a:r>
            <a:r>
              <a:rPr dirty="0"/>
              <a:t>C# on .NET 9 with </a:t>
            </a:r>
            <a:r>
              <a:rPr dirty="0" err="1"/>
              <a:t>Spectre.Console</a:t>
            </a:r>
            <a:r>
              <a:rPr dirty="0"/>
              <a:t>, System.IO, and ANSI-styled output.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217920"/>
            <a:ext cx="94457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7E8999"/>
                </a:solidFill>
              </a:defRPr>
            </a:pPr>
            <a:r>
              <a:t>Project Overview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0232" y="621792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7E8999"/>
                </a:solidFill>
              </a:defRPr>
            </a:pPr>
            <a:r>
              <a:t>01</a:t>
            </a:r>
          </a:p>
        </p:txBody>
      </p:sp>
    </p:spTree>
  </p:cSld>
  <p:clrMapOvr>
    <a:masterClrMapping/>
  </p:clrMapOvr>
  <p:transition spd="slow">
    <p:push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9FBFE"/>
            </a:gs>
            <a:gs pos="100000">
              <a:srgbClr val="E1E6ED"/>
            </a:gs>
          </a:gsLst>
          <a:lin ang="16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/>
        </p:nvSpPr>
        <p:spPr>
          <a:xfrm>
            <a:off x="457200" y="320040"/>
            <a:ext cx="960120" cy="411480"/>
          </a:xfrm>
          <a:prstGeom prst="roundRect">
            <a:avLst/>
          </a:prstGeom>
          <a:solidFill>
            <a:srgbClr val="4AC7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 b="1">
                <a:solidFill>
                  <a:srgbClr val="0E1926"/>
                </a:solidFill>
              </a:defRPr>
            </a:pPr>
            <a: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6868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E1926"/>
                </a:solidFill>
              </a:defRPr>
            </a:pPr>
            <a:r>
              <a:rPr dirty="0"/>
              <a:t>Requirements</a:t>
            </a:r>
          </a:p>
          <a:p>
            <a:pPr>
              <a:defRPr sz="1800">
                <a:solidFill>
                  <a:srgbClr val="7E8999"/>
                </a:solidFill>
              </a:defRPr>
            </a:pPr>
            <a:r>
              <a:rPr dirty="0"/>
              <a:t>Software • Installation • Hardware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7907486" cy="153888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2100">
                <a:solidFill>
                  <a:srgbClr val="222830"/>
                </a:solidFill>
              </a:defRPr>
            </a:pPr>
            <a:r>
              <a:rPr b="1" dirty="0"/>
              <a:t>Software: </a:t>
            </a:r>
            <a:r>
              <a:rPr dirty="0"/>
              <a:t>.NET 9 SDK, </a:t>
            </a:r>
            <a:r>
              <a:rPr dirty="0" err="1"/>
              <a:t>Spectre.Console</a:t>
            </a:r>
            <a:r>
              <a:rPr dirty="0"/>
              <a:t> package, and VS Code/VS 2022.</a:t>
            </a:r>
            <a:endParaRPr lang="en-US" dirty="0"/>
          </a:p>
          <a:p>
            <a:pPr>
              <a:spcAft>
                <a:spcPts val="400"/>
              </a:spcAft>
              <a:defRPr sz="2100">
                <a:solidFill>
                  <a:srgbClr val="222830"/>
                </a:solidFill>
              </a:defRPr>
            </a:pPr>
            <a:endParaRPr dirty="0"/>
          </a:p>
          <a:p>
            <a:pPr>
              <a:spcAft>
                <a:spcPts val="400"/>
              </a:spcAft>
              <a:defRPr sz="2100">
                <a:solidFill>
                  <a:srgbClr val="222830"/>
                </a:solidFill>
              </a:defRPr>
            </a:pPr>
            <a:r>
              <a:rPr b="1" dirty="0"/>
              <a:t>System: </a:t>
            </a:r>
            <a:r>
              <a:rPr lang="en-US" sz="2100" dirty="0"/>
              <a:t>Any modern computer capable of running the .NET runtime</a:t>
            </a:r>
          </a:p>
          <a:p>
            <a:pPr>
              <a:spcAft>
                <a:spcPts val="400"/>
              </a:spcAft>
              <a:defRPr sz="2100">
                <a:solidFill>
                  <a:srgbClr val="222830"/>
                </a:solidFill>
              </a:defRPr>
            </a:pPr>
            <a:endParaRPr dirty="0"/>
          </a:p>
        </p:txBody>
      </p:sp>
      <p:sp>
        <p:nvSpPr>
          <p:cNvPr id="7" name="TextBox 6"/>
          <p:cNvSpPr txBox="1"/>
          <p:nvPr/>
        </p:nvSpPr>
        <p:spPr>
          <a:xfrm>
            <a:off x="914400" y="6217920"/>
            <a:ext cx="94457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7E8999"/>
                </a:solidFill>
              </a:defRPr>
            </a:pPr>
            <a:r>
              <a:t>Requirements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0232" y="621792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7E8999"/>
                </a:solidFill>
              </a:defRPr>
            </a:pPr>
            <a:r>
              <a:t>02</a:t>
            </a:r>
          </a:p>
        </p:txBody>
      </p:sp>
    </p:spTree>
  </p:cSld>
  <p:clrMapOvr>
    <a:masterClrMapping/>
  </p:clrMapOvr>
  <p:transition spd="slow">
    <p:push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9FBFE"/>
            </a:gs>
            <a:gs pos="100000">
              <a:srgbClr val="E1E6ED"/>
            </a:gs>
          </a:gsLst>
          <a:lin ang="16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/>
        </p:nvSpPr>
        <p:spPr>
          <a:xfrm>
            <a:off x="457200" y="320040"/>
            <a:ext cx="960120" cy="411480"/>
          </a:xfrm>
          <a:prstGeom prst="roundRect">
            <a:avLst/>
          </a:prstGeom>
          <a:solidFill>
            <a:srgbClr val="FFC4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 b="1">
                <a:solidFill>
                  <a:srgbClr val="3C2814"/>
                </a:solidFill>
              </a:defRPr>
            </a:pPr>
            <a: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6868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E1926"/>
                </a:solidFill>
              </a:defRPr>
            </a:pPr>
            <a:r>
              <a:t>File Handling Overview</a:t>
            </a:r>
          </a:p>
          <a:p>
            <a:pPr>
              <a:defRPr sz="1800">
                <a:solidFill>
                  <a:srgbClr val="7E8999"/>
                </a:solidFill>
              </a:defRPr>
            </a:pPr>
            <a:r>
              <a:t>Inventory • Event Log • Safeguards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10360785" cy="266226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2100">
                <a:solidFill>
                  <a:srgbClr val="222830"/>
                </a:solidFill>
              </a:defRPr>
            </a:pPr>
            <a:r>
              <a:rPr b="1" dirty="0"/>
              <a:t>Inventory CSV </a:t>
            </a:r>
            <a:r>
              <a:rPr dirty="0"/>
              <a:t>tracks slot type, name, price, stock, calories/volume.</a:t>
            </a:r>
            <a:endParaRPr lang="en-US" dirty="0"/>
          </a:p>
          <a:p>
            <a:pPr>
              <a:spcAft>
                <a:spcPts val="400"/>
              </a:spcAft>
              <a:defRPr sz="2100">
                <a:solidFill>
                  <a:srgbClr val="222830"/>
                </a:solidFill>
              </a:defRPr>
            </a:pPr>
            <a:endParaRPr dirty="0"/>
          </a:p>
          <a:p>
            <a:pPr>
              <a:spcAft>
                <a:spcPts val="400"/>
              </a:spcAft>
              <a:defRPr sz="2100">
                <a:solidFill>
                  <a:srgbClr val="222830"/>
                </a:solidFill>
              </a:defRPr>
            </a:pPr>
            <a:r>
              <a:rPr b="1" dirty="0"/>
              <a:t>Event log CSV </a:t>
            </a:r>
            <a:r>
              <a:rPr dirty="0"/>
              <a:t>chronicles purchases, recycle credits, and admin actions with timestamps.</a:t>
            </a:r>
            <a:endParaRPr lang="en-US" dirty="0"/>
          </a:p>
          <a:p>
            <a:pPr>
              <a:spcAft>
                <a:spcPts val="400"/>
              </a:spcAft>
              <a:defRPr sz="2100">
                <a:solidFill>
                  <a:srgbClr val="222830"/>
                </a:solidFill>
              </a:defRPr>
            </a:pPr>
            <a:endParaRPr dirty="0"/>
          </a:p>
          <a:p>
            <a:pPr>
              <a:spcAft>
                <a:spcPts val="400"/>
              </a:spcAft>
              <a:defRPr sz="2100">
                <a:solidFill>
                  <a:srgbClr val="222830"/>
                </a:solidFill>
              </a:defRPr>
            </a:pPr>
            <a:r>
              <a:rPr b="1" dirty="0"/>
              <a:t>Operations: </a:t>
            </a:r>
            <a:r>
              <a:rPr dirty="0"/>
              <a:t>load arrays on startup, rewrite inventory after edits, append log entries instantly.</a:t>
            </a:r>
            <a:endParaRPr lang="en-US" dirty="0"/>
          </a:p>
          <a:p>
            <a:pPr>
              <a:spcAft>
                <a:spcPts val="400"/>
              </a:spcAft>
              <a:defRPr sz="2100">
                <a:solidFill>
                  <a:srgbClr val="222830"/>
                </a:solidFill>
              </a:defRPr>
            </a:pPr>
            <a:endParaRPr dirty="0"/>
          </a:p>
          <a:p>
            <a:pPr>
              <a:spcAft>
                <a:spcPts val="400"/>
              </a:spcAft>
              <a:defRPr sz="2100">
                <a:solidFill>
                  <a:srgbClr val="222830"/>
                </a:solidFill>
              </a:defRPr>
            </a:pPr>
            <a:r>
              <a:rPr b="1" dirty="0"/>
              <a:t>Safeguards: </a:t>
            </a:r>
            <a:r>
              <a:rPr dirty="0"/>
              <a:t>Header validation, numeric checks, and auto-regeneration for missing files.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217920"/>
            <a:ext cx="94457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7E8999"/>
                </a:solidFill>
              </a:defRPr>
            </a:pPr>
            <a:r>
              <a:t>File Handling Overview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0232" y="621792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7E8999"/>
                </a:solidFill>
              </a:defRPr>
            </a:pPr>
            <a:r>
              <a:t>03</a:t>
            </a:r>
          </a:p>
        </p:txBody>
      </p:sp>
    </p:spTree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>
                <p:childTnLst>
                  <p:par>
                    <p:cTn id="3" dur="500" fill="hold">
                      <p:stCondLst>
                        <p:cond evt="onBegin" delay="0"/>
                      </p:stCondLst>
                      <p:childTnLst>
                        <p:animEffect transition="in" filter="fade">
                          <p:cBhvr>
                            <p:cTn id="4" dur="500" fill="hold"/>
                            <p:tgtEl>
                              <p:spTgt spid="2"/>
                            </p:tgtEl>
                          </p:cBhvr>
                        </p:animEffect>
                      </p:childTnLst>
                    </p:cTn>
                  </p:par>
                  <p:par>
                    <p:cTn id="5" dur="500" fill="hold">
                      <p:stCondLst>
                        <p:cond evt="onBegin" delay="150"/>
                      </p:stCondLst>
                      <p:childTnLst>
                        <p:animEffect transition="in" filter="fade">
                          <p:cBhvr>
                            <p:cTn id="6" dur="500" fill="hold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7" dur="500" fill="hold">
                      <p:stCondLst>
                        <p:cond evt="onBegin" delay="300"/>
                      </p:stCondLst>
                      <p:childTnLst>
                        <p:animEffect transition="in" filter="fade">
                          <p:cBhvr>
                            <p:cTn id="8" dur="500" fill="hold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9" dur="500" fill="hold">
                      <p:stCondLst>
                        <p:cond evt="onBegin" delay="450"/>
                      </p:stCondLst>
                      <p:childTnLst>
                        <p:animEffect transition="in" filter="fade">
                          <p:cBhvr>
                            <p:cTn id="10" dur="500" fill="hold"/>
                            <p:tgtEl>
                              <p:spTgt spid="5"/>
                            </p:tgtEl>
                          </p:cBhvr>
                        </p:animEffect>
                      </p:childTnLst>
                    </p:cTn>
                  </p:par>
                  <p:par>
                    <p:cTn id="11" dur="500" fill="hold">
                      <p:stCondLst>
                        <p:cond evt="onBegin" delay="600"/>
                      </p:stCondLst>
                      <p:childTnLst>
                        <p:animEffect transition="in" filter="fade">
                          <p:cBhvr>
                            <p:cTn id="12" dur="500" fill="hold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13" dur="500" fill="hold">
                      <p:stCondLst>
                        <p:cond evt="onBegin" delay="750"/>
                      </p:stCondLst>
                      <p:childTnLst>
                        <p:animEffect transition="in" filter="fade">
                          <p:cBhvr>
                            <p:cTn id="14" dur="500" fill="hold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15" dur="500" fill="hold">
                      <p:stCondLst>
                        <p:cond evt="onBegin" delay="900"/>
                      </p:stCondLst>
                      <p:childTnLst>
                        <p:animEffect transition="in" filter="fade">
                          <p:cBhvr>
                            <p:cTn id="16" dur="500" fill="hold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9FBFE"/>
            </a:gs>
            <a:gs pos="100000">
              <a:srgbClr val="E1E6ED"/>
            </a:gs>
          </a:gsLst>
          <a:lin ang="16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/>
        </p:nvSpPr>
        <p:spPr>
          <a:xfrm>
            <a:off x="457200" y="320040"/>
            <a:ext cx="960120" cy="411480"/>
          </a:xfrm>
          <a:prstGeom prst="roundRect">
            <a:avLst/>
          </a:prstGeom>
          <a:solidFill>
            <a:srgbClr val="4AC7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 b="1">
                <a:solidFill>
                  <a:srgbClr val="0E1926"/>
                </a:solidFill>
              </a:defRPr>
            </a:pPr>
            <a: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6868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E1926"/>
                </a:solidFill>
              </a:defRPr>
            </a:pPr>
            <a:r>
              <a:t>Code Structure</a:t>
            </a:r>
          </a:p>
          <a:p>
            <a:pPr>
              <a:defRPr sz="1800">
                <a:solidFill>
                  <a:srgbClr val="7E8999"/>
                </a:solidFill>
              </a:defRPr>
            </a:pPr>
            <a:r>
              <a:t>Classes • Methods • Modularity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10633680" cy="303672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2100">
                <a:solidFill>
                  <a:srgbClr val="222830"/>
                </a:solidFill>
              </a:defRPr>
            </a:pPr>
            <a:r>
              <a:rPr b="1" dirty="0" err="1"/>
              <a:t>EcoMatic</a:t>
            </a:r>
            <a:r>
              <a:rPr dirty="0"/>
              <a:t> coordinates menus, balance handling, inventory updates, and logging.</a:t>
            </a:r>
            <a:endParaRPr lang="en-US" dirty="0"/>
          </a:p>
          <a:p>
            <a:pPr>
              <a:spcAft>
                <a:spcPts val="400"/>
              </a:spcAft>
              <a:defRPr sz="2100">
                <a:solidFill>
                  <a:srgbClr val="222830"/>
                </a:solidFill>
              </a:defRPr>
            </a:pPr>
            <a:endParaRPr dirty="0"/>
          </a:p>
          <a:p>
            <a:pPr>
              <a:spcAft>
                <a:spcPts val="400"/>
              </a:spcAft>
              <a:defRPr sz="2100">
                <a:solidFill>
                  <a:srgbClr val="222830"/>
                </a:solidFill>
              </a:defRPr>
            </a:pPr>
            <a:r>
              <a:rPr b="1" dirty="0" err="1"/>
              <a:t>VendingItem</a:t>
            </a:r>
            <a:r>
              <a:rPr dirty="0"/>
              <a:t> base + Snack/Drink/Misc overrides deliver flavor text and CSV serialization.</a:t>
            </a:r>
            <a:endParaRPr lang="en-US" dirty="0"/>
          </a:p>
          <a:p>
            <a:pPr>
              <a:spcAft>
                <a:spcPts val="400"/>
              </a:spcAft>
              <a:defRPr sz="2100">
                <a:solidFill>
                  <a:srgbClr val="222830"/>
                </a:solidFill>
              </a:defRPr>
            </a:pPr>
            <a:endParaRPr dirty="0"/>
          </a:p>
          <a:p>
            <a:pPr>
              <a:spcAft>
                <a:spcPts val="400"/>
              </a:spcAft>
              <a:defRPr sz="2100">
                <a:solidFill>
                  <a:srgbClr val="222830"/>
                </a:solidFill>
              </a:defRPr>
            </a:pPr>
            <a:r>
              <a:rPr dirty="0"/>
              <a:t>Helpers (</a:t>
            </a:r>
            <a:r>
              <a:rPr b="1" dirty="0"/>
              <a:t>Write</a:t>
            </a:r>
            <a:r>
              <a:rPr dirty="0"/>
              <a:t>, </a:t>
            </a:r>
            <a:r>
              <a:rPr b="1" dirty="0" err="1"/>
              <a:t>TransactionTracker</a:t>
            </a:r>
            <a:r>
              <a:rPr dirty="0"/>
              <a:t>, </a:t>
            </a:r>
            <a:r>
              <a:rPr b="1" dirty="0" err="1"/>
              <a:t>RecycleTracker</a:t>
            </a:r>
            <a:r>
              <a:rPr dirty="0"/>
              <a:t>, </a:t>
            </a:r>
            <a:r>
              <a:rPr b="1" dirty="0" err="1"/>
              <a:t>SalesReport</a:t>
            </a:r>
            <a:r>
              <a:rPr dirty="0"/>
              <a:t>) isolate responsibilities</a:t>
            </a:r>
            <a:r>
              <a:rPr lang="en-US" dirty="0"/>
              <a:t> / make</a:t>
            </a:r>
          </a:p>
          <a:p>
            <a:pPr>
              <a:spcAft>
                <a:spcPts val="400"/>
              </a:spcAft>
              <a:defRPr sz="2100">
                <a:solidFill>
                  <a:srgbClr val="222830"/>
                </a:solidFill>
              </a:defRPr>
            </a:pPr>
            <a:r>
              <a:rPr lang="en-US" dirty="0"/>
              <a:t>code more maintainable/readable</a:t>
            </a:r>
            <a:r>
              <a:rPr dirty="0"/>
              <a:t>.</a:t>
            </a:r>
            <a:endParaRPr lang="en-US" dirty="0"/>
          </a:p>
          <a:p>
            <a:pPr>
              <a:spcAft>
                <a:spcPts val="400"/>
              </a:spcAft>
              <a:defRPr sz="2100">
                <a:solidFill>
                  <a:srgbClr val="222830"/>
                </a:solidFill>
              </a:defRPr>
            </a:pPr>
            <a:endParaRPr dirty="0"/>
          </a:p>
          <a:p>
            <a:pPr>
              <a:spcAft>
                <a:spcPts val="400"/>
              </a:spcAft>
              <a:defRPr sz="2100">
                <a:solidFill>
                  <a:srgbClr val="222830"/>
                </a:solidFill>
              </a:defRPr>
            </a:pPr>
            <a:r>
              <a:rPr b="1" dirty="0"/>
              <a:t>Modularity</a:t>
            </a:r>
            <a:r>
              <a:rPr dirty="0"/>
              <a:t>: Constants define slot/stock limits to keep the single-file layout readable.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217920"/>
            <a:ext cx="94457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7E8999"/>
                </a:solidFill>
              </a:defRPr>
            </a:pPr>
            <a:r>
              <a:t>Code Structure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0232" y="621792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7E8999"/>
                </a:solidFill>
              </a:defRPr>
            </a:pPr>
            <a:r>
              <a:t>04</a:t>
            </a:r>
          </a:p>
        </p:txBody>
      </p:sp>
    </p:spTree>
  </p:cSld>
  <p:clrMapOvr>
    <a:masterClrMapping/>
  </p:clrMapOvr>
  <p:transition spd="slow">
    <p:push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9FBFE"/>
            </a:gs>
            <a:gs pos="100000">
              <a:srgbClr val="E1E6ED"/>
            </a:gs>
          </a:gsLst>
          <a:lin ang="16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/>
        </p:nvSpPr>
        <p:spPr>
          <a:xfrm>
            <a:off x="457200" y="320040"/>
            <a:ext cx="960120" cy="411480"/>
          </a:xfrm>
          <a:prstGeom prst="roundRect">
            <a:avLst/>
          </a:prstGeom>
          <a:solidFill>
            <a:srgbClr val="FFC4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 b="1">
                <a:solidFill>
                  <a:srgbClr val="3C2814"/>
                </a:solidFill>
              </a:defRPr>
            </a:pPr>
            <a: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68680"/>
            <a:ext cx="2964979" cy="8925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E1926"/>
                </a:solidFill>
              </a:defRPr>
            </a:pPr>
            <a:r>
              <a:rPr dirty="0"/>
              <a:t>User Interface</a:t>
            </a:r>
          </a:p>
          <a:p>
            <a:pPr>
              <a:defRPr sz="1800">
                <a:solidFill>
                  <a:srgbClr val="7E8999"/>
                </a:solidFill>
              </a:defRPr>
            </a:pPr>
            <a:r>
              <a:rPr dirty="0"/>
              <a:t>Design • Input/Output • </a:t>
            </a:r>
            <a:r>
              <a:rPr lang="en-US" dirty="0"/>
              <a:t>Flow</a:t>
            </a: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10271723" cy="19133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2100">
                <a:solidFill>
                  <a:srgbClr val="222830"/>
                </a:solidFill>
              </a:defRPr>
            </a:pPr>
            <a:r>
              <a:rPr b="1" dirty="0" err="1"/>
              <a:t>Spectre.Console</a:t>
            </a:r>
            <a:r>
              <a:rPr b="1" dirty="0"/>
              <a:t> </a:t>
            </a:r>
            <a:r>
              <a:rPr dirty="0"/>
              <a:t>tables and color-coded stock dots create a dashboard look.</a:t>
            </a:r>
            <a:endParaRPr lang="en-US" dirty="0"/>
          </a:p>
          <a:p>
            <a:pPr>
              <a:spcAft>
                <a:spcPts val="400"/>
              </a:spcAft>
              <a:defRPr sz="2100">
                <a:solidFill>
                  <a:srgbClr val="222830"/>
                </a:solidFill>
              </a:defRPr>
            </a:pPr>
            <a:endParaRPr dirty="0"/>
          </a:p>
          <a:p>
            <a:pPr>
              <a:spcAft>
                <a:spcPts val="400"/>
              </a:spcAft>
              <a:defRPr sz="2100">
                <a:solidFill>
                  <a:srgbClr val="222830"/>
                </a:solidFill>
              </a:defRPr>
            </a:pPr>
            <a:r>
              <a:rPr b="1" dirty="0"/>
              <a:t>Customer path</a:t>
            </a:r>
            <a:r>
              <a:rPr dirty="0"/>
              <a:t>: insert bills</a:t>
            </a:r>
            <a:r>
              <a:rPr lang="en-US" dirty="0"/>
              <a:t>,</a:t>
            </a:r>
            <a:r>
              <a:rPr dirty="0"/>
              <a:t> examine</a:t>
            </a:r>
            <a:r>
              <a:rPr lang="en-US" dirty="0"/>
              <a:t> items, </a:t>
            </a:r>
            <a:r>
              <a:rPr dirty="0"/>
              <a:t>buy items</a:t>
            </a:r>
            <a:r>
              <a:rPr lang="en-US" dirty="0"/>
              <a:t>,</a:t>
            </a:r>
            <a:r>
              <a:rPr dirty="0"/>
              <a:t> recycle</a:t>
            </a:r>
            <a:r>
              <a:rPr lang="en-US" dirty="0"/>
              <a:t>, </a:t>
            </a:r>
            <a:r>
              <a:rPr dirty="0"/>
              <a:t>receive change + receipt.</a:t>
            </a:r>
            <a:endParaRPr lang="en-US" dirty="0"/>
          </a:p>
          <a:p>
            <a:pPr>
              <a:spcAft>
                <a:spcPts val="400"/>
              </a:spcAft>
              <a:defRPr sz="2100">
                <a:solidFill>
                  <a:srgbClr val="222830"/>
                </a:solidFill>
              </a:defRPr>
            </a:pPr>
            <a:endParaRPr dirty="0"/>
          </a:p>
          <a:p>
            <a:pPr>
              <a:spcAft>
                <a:spcPts val="400"/>
              </a:spcAft>
              <a:defRPr sz="2100">
                <a:solidFill>
                  <a:srgbClr val="222830"/>
                </a:solidFill>
              </a:defRPr>
            </a:pPr>
            <a:r>
              <a:rPr b="1" dirty="0"/>
              <a:t>Admin path: </a:t>
            </a:r>
            <a:r>
              <a:rPr dirty="0"/>
              <a:t>password gate for restock, add/remove items, view/clear logs, run sales report.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217920"/>
            <a:ext cx="94457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7E8999"/>
                </a:solidFill>
              </a:defRPr>
            </a:pPr>
            <a:r>
              <a:t>User Interface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0232" y="621792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7E8999"/>
                </a:solidFill>
              </a:defRPr>
            </a:pPr>
            <a:r>
              <a:t>05</a:t>
            </a:r>
          </a:p>
        </p:txBody>
      </p:sp>
    </p:spTree>
  </p:cSld>
  <p:clrMapOvr>
    <a:masterClrMapping/>
  </p:clrMapOvr>
  <p:transition spd="slow">
    <p:push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DA14240-7277-B8F8-C23E-3F65DCCF0D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050" y="0"/>
            <a:ext cx="113507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15186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0AFD345-DC2D-D463-0C35-866E0DC0D9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001" y="0"/>
            <a:ext cx="111028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07064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68BC472-2ABC-23E3-7273-6228300242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001" y="0"/>
            <a:ext cx="111028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43880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9FBFE"/>
            </a:gs>
            <a:gs pos="100000">
              <a:srgbClr val="E1E6ED"/>
            </a:gs>
          </a:gsLst>
          <a:lin ang="16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/>
        </p:nvSpPr>
        <p:spPr>
          <a:xfrm>
            <a:off x="457200" y="320040"/>
            <a:ext cx="960120" cy="411480"/>
          </a:xfrm>
          <a:prstGeom prst="roundRect">
            <a:avLst/>
          </a:prstGeom>
          <a:solidFill>
            <a:srgbClr val="4AC7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 b="1">
                <a:solidFill>
                  <a:srgbClr val="0E1926"/>
                </a:solidFill>
              </a:defRPr>
            </a:pPr>
            <a: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6868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E1926"/>
                </a:solidFill>
              </a:defRPr>
            </a:pPr>
            <a:r>
              <a:t>Challenges &amp; Solutions</a:t>
            </a:r>
          </a:p>
          <a:p>
            <a:pPr>
              <a:defRPr sz="1800">
                <a:solidFill>
                  <a:srgbClr val="7E8999"/>
                </a:solidFill>
              </a:defRPr>
            </a:pPr>
            <a:r>
              <a:t>Development Hurdles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9001695" cy="19133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2100">
                <a:solidFill>
                  <a:srgbClr val="222830"/>
                </a:solidFill>
              </a:defRPr>
            </a:pPr>
            <a:r>
              <a:rPr b="1" dirty="0"/>
              <a:t>CSV integrity: </a:t>
            </a:r>
            <a:r>
              <a:rPr dirty="0"/>
              <a:t>validation + auto-rebuild routines prevent corruptio</a:t>
            </a:r>
            <a:r>
              <a:rPr lang="en-US" dirty="0"/>
              <a:t>n</a:t>
            </a:r>
            <a:r>
              <a:rPr dirty="0"/>
              <a:t>.</a:t>
            </a:r>
            <a:endParaRPr lang="en-US" dirty="0"/>
          </a:p>
          <a:p>
            <a:pPr>
              <a:spcAft>
                <a:spcPts val="400"/>
              </a:spcAft>
              <a:defRPr sz="2100">
                <a:solidFill>
                  <a:srgbClr val="222830"/>
                </a:solidFill>
              </a:defRPr>
            </a:pPr>
            <a:endParaRPr dirty="0"/>
          </a:p>
          <a:p>
            <a:pPr>
              <a:spcAft>
                <a:spcPts val="400"/>
              </a:spcAft>
              <a:defRPr sz="2100">
                <a:solidFill>
                  <a:srgbClr val="222830"/>
                </a:solidFill>
              </a:defRPr>
            </a:pPr>
            <a:r>
              <a:rPr b="1" dirty="0"/>
              <a:t>Array constraints: </a:t>
            </a:r>
            <a:r>
              <a:rPr dirty="0"/>
              <a:t>trackers reset every session to avoid overflow and stale data.</a:t>
            </a:r>
            <a:endParaRPr lang="en-US" dirty="0"/>
          </a:p>
          <a:p>
            <a:pPr>
              <a:spcAft>
                <a:spcPts val="400"/>
              </a:spcAft>
              <a:defRPr sz="2100">
                <a:solidFill>
                  <a:srgbClr val="222830"/>
                </a:solidFill>
              </a:defRPr>
            </a:pPr>
            <a:endParaRPr dirty="0"/>
          </a:p>
          <a:p>
            <a:pPr>
              <a:spcAft>
                <a:spcPts val="400"/>
              </a:spcAft>
              <a:defRPr sz="2100">
                <a:solidFill>
                  <a:srgbClr val="222830"/>
                </a:solidFill>
              </a:defRPr>
            </a:pPr>
            <a:r>
              <a:rPr b="1" dirty="0"/>
              <a:t>Single-file: </a:t>
            </a:r>
            <a:r>
              <a:rPr dirty="0"/>
              <a:t>helper classes and regions keep logic modular despite the constraint.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914400" y="6217920"/>
            <a:ext cx="94457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7E8999"/>
                </a:solidFill>
              </a:defRPr>
            </a:pPr>
            <a:r>
              <a:t>Challenges &amp; Solutions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0232" y="621792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7E8999"/>
                </a:solidFill>
              </a:defRPr>
            </a:pPr>
            <a:r>
              <a:t>06</a:t>
            </a:r>
          </a:p>
        </p:txBody>
      </p:sp>
    </p:spTree>
  </p:cSld>
  <p:clrMapOvr>
    <a:masterClrMapping/>
  </p:clrMapOvr>
  <p:transition spd="slow">
    <p:push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9FBFE"/>
            </a:gs>
            <a:gs pos="100000">
              <a:srgbClr val="E1E6ED"/>
            </a:gs>
          </a:gsLst>
          <a:lin ang="16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/>
        </p:nvSpPr>
        <p:spPr>
          <a:xfrm>
            <a:off x="457200" y="320040"/>
            <a:ext cx="960120" cy="411480"/>
          </a:xfrm>
          <a:prstGeom prst="roundRect">
            <a:avLst/>
          </a:prstGeom>
          <a:solidFill>
            <a:srgbClr val="FFC4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 b="1">
                <a:solidFill>
                  <a:srgbClr val="3C2814"/>
                </a:solidFill>
              </a:defRPr>
            </a:pPr>
            <a: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6868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E1926"/>
                </a:solidFill>
              </a:defRPr>
            </a:pPr>
            <a:r>
              <a:t>Testing</a:t>
            </a:r>
          </a:p>
          <a:p>
            <a:pPr>
              <a:defRPr sz="1800">
                <a:solidFill>
                  <a:srgbClr val="7E8999"/>
                </a:solidFill>
              </a:defRPr>
            </a:pPr>
            <a:r>
              <a:t>Cases • Results • Limitations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9867766" cy="4154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2100">
                <a:solidFill>
                  <a:srgbClr val="222830"/>
                </a:solidFill>
              </a:defRPr>
            </a:pPr>
            <a:r>
              <a:rPr b="1" dirty="0"/>
              <a:t>Cases: </a:t>
            </a:r>
            <a:r>
              <a:rPr dirty="0"/>
              <a:t>normal purchases, insufficient funds, sold-out items, recycle bounds, admin tasks.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217920"/>
            <a:ext cx="94457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7E8999"/>
                </a:solidFill>
              </a:defRPr>
            </a:pPr>
            <a:r>
              <a:t>Testing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0232" y="621792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7E8999"/>
                </a:solidFill>
              </a:defRPr>
            </a:pPr>
            <a:r>
              <a:t>07</a:t>
            </a:r>
          </a:p>
        </p:txBody>
      </p:sp>
    </p:spTree>
  </p:cSld>
  <p:clrMapOvr>
    <a:masterClrMapping/>
  </p:clrMapOvr>
  <p:transition spd="slow">
    <p:push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9FBFE"/>
            </a:gs>
            <a:gs pos="100000">
              <a:srgbClr val="E1E6ED"/>
            </a:gs>
          </a:gsLst>
          <a:lin ang="16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/>
        </p:nvSpPr>
        <p:spPr>
          <a:xfrm>
            <a:off x="457200" y="320040"/>
            <a:ext cx="960120" cy="411480"/>
          </a:xfrm>
          <a:prstGeom prst="roundRect">
            <a:avLst/>
          </a:prstGeom>
          <a:solidFill>
            <a:srgbClr val="4AC7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 b="1">
                <a:solidFill>
                  <a:srgbClr val="0E1926"/>
                </a:solidFill>
              </a:defRPr>
            </a:pPr>
            <a: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6868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E1926"/>
                </a:solidFill>
              </a:defRPr>
            </a:pPr>
            <a:r>
              <a:t>Future Enhancements</a:t>
            </a:r>
          </a:p>
          <a:p>
            <a:pPr>
              <a:defRPr sz="1800">
                <a:solidFill>
                  <a:srgbClr val="7E8999"/>
                </a:solidFill>
              </a:defRPr>
            </a:pPr>
            <a:r>
              <a:t>Planned Features • 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7961795" cy="19133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2100">
                <a:solidFill>
                  <a:srgbClr val="222830"/>
                </a:solidFill>
              </a:defRPr>
            </a:pPr>
            <a:r>
              <a:rPr dirty="0"/>
              <a:t>Refactor by splitting </a:t>
            </a:r>
            <a:r>
              <a:rPr b="1" dirty="0" err="1"/>
              <a:t>Program.cs</a:t>
            </a:r>
            <a:r>
              <a:rPr b="1" dirty="0"/>
              <a:t> </a:t>
            </a:r>
            <a:r>
              <a:rPr dirty="0"/>
              <a:t>and adopting collections for scalability.</a:t>
            </a:r>
            <a:endParaRPr lang="en-US" dirty="0"/>
          </a:p>
          <a:p>
            <a:pPr>
              <a:spcAft>
                <a:spcPts val="400"/>
              </a:spcAft>
              <a:defRPr sz="2100">
                <a:solidFill>
                  <a:srgbClr val="222830"/>
                </a:solidFill>
              </a:defRPr>
            </a:pPr>
            <a:endParaRPr dirty="0"/>
          </a:p>
          <a:p>
            <a:pPr>
              <a:spcAft>
                <a:spcPts val="400"/>
              </a:spcAft>
              <a:defRPr sz="2100">
                <a:solidFill>
                  <a:srgbClr val="222830"/>
                </a:solidFill>
              </a:defRPr>
            </a:pPr>
            <a:r>
              <a:rPr b="1" dirty="0"/>
              <a:t>Analytics: </a:t>
            </a:r>
            <a:r>
              <a:rPr dirty="0"/>
              <a:t>configurable recycle catalog plus multi-day dashboards.</a:t>
            </a:r>
            <a:endParaRPr lang="en-US" dirty="0"/>
          </a:p>
          <a:p>
            <a:pPr>
              <a:spcAft>
                <a:spcPts val="400"/>
              </a:spcAft>
              <a:defRPr sz="2100">
                <a:solidFill>
                  <a:srgbClr val="222830"/>
                </a:solidFill>
              </a:defRPr>
            </a:pPr>
            <a:endParaRPr dirty="0"/>
          </a:p>
          <a:p>
            <a:pPr>
              <a:spcAft>
                <a:spcPts val="400"/>
              </a:spcAft>
              <a:defRPr sz="2100">
                <a:solidFill>
                  <a:srgbClr val="222830"/>
                </a:solidFill>
              </a:defRPr>
            </a:pPr>
            <a:r>
              <a:rPr lang="en-US" b="1" dirty="0"/>
              <a:t>UI</a:t>
            </a:r>
            <a:r>
              <a:rPr b="1" dirty="0"/>
              <a:t>: </a:t>
            </a:r>
            <a:r>
              <a:rPr dirty="0"/>
              <a:t>GUI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914400" y="6217920"/>
            <a:ext cx="94457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7E8999"/>
                </a:solidFill>
              </a:defRPr>
            </a:pPr>
            <a:r>
              <a:t>Future Enhancements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0232" y="621792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7E8999"/>
                </a:solidFill>
              </a:defRPr>
            </a:pPr>
            <a:r>
              <a:t>08</a:t>
            </a:r>
          </a:p>
        </p:txBody>
      </p:sp>
    </p:spTree>
  </p:cSld>
  <p:clrMapOvr>
    <a:masterClrMapping/>
  </p:clrMapOvr>
  <p:transition spd="slow">
    <p:push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9FBFE"/>
            </a:gs>
            <a:gs pos="100000">
              <a:srgbClr val="E1E6ED"/>
            </a:gs>
          </a:gsLst>
          <a:lin ang="16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/>
        </p:nvSpPr>
        <p:spPr>
          <a:xfrm>
            <a:off x="457200" y="320040"/>
            <a:ext cx="960120" cy="411480"/>
          </a:xfrm>
          <a:prstGeom prst="roundRect">
            <a:avLst/>
          </a:prstGeom>
          <a:solidFill>
            <a:srgbClr val="FFC4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 b="1">
                <a:solidFill>
                  <a:srgbClr val="3C2814"/>
                </a:solidFill>
              </a:defRPr>
            </a:pPr>
            <a: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6868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E1926"/>
                </a:solidFill>
              </a:defRPr>
            </a:pPr>
            <a:r>
              <a:t>Conclusion</a:t>
            </a:r>
          </a:p>
          <a:p>
            <a:pPr>
              <a:defRPr sz="1800">
                <a:solidFill>
                  <a:srgbClr val="7E8999"/>
                </a:solidFill>
              </a:defRPr>
            </a:pPr>
            <a:r>
              <a:t>Reflection • Takeaways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8884099" cy="153888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2100">
                <a:solidFill>
                  <a:srgbClr val="222830"/>
                </a:solidFill>
              </a:defRPr>
            </a:pPr>
            <a:r>
              <a:rPr lang="en-US" dirty="0"/>
              <a:t>This project deepen my knowledge on the concept of </a:t>
            </a:r>
            <a:r>
              <a:rPr dirty="0"/>
              <a:t>OOP</a:t>
            </a:r>
            <a:endParaRPr lang="en-US" dirty="0"/>
          </a:p>
          <a:p>
            <a:pPr>
              <a:spcAft>
                <a:spcPts val="400"/>
              </a:spcAft>
              <a:defRPr sz="2100">
                <a:solidFill>
                  <a:srgbClr val="222830"/>
                </a:solidFill>
              </a:defRPr>
            </a:pPr>
            <a:r>
              <a:rPr lang="en-US" dirty="0"/>
              <a:t>I also learned to implement </a:t>
            </a:r>
            <a:r>
              <a:rPr dirty="0"/>
              <a:t>file I/O</a:t>
            </a:r>
            <a:r>
              <a:rPr lang="en-US" dirty="0"/>
              <a:t> in my program,</a:t>
            </a:r>
          </a:p>
          <a:p>
            <a:pPr>
              <a:spcAft>
                <a:spcPts val="400"/>
              </a:spcAft>
              <a:defRPr sz="2100">
                <a:solidFill>
                  <a:srgbClr val="222830"/>
                </a:solidFill>
              </a:defRPr>
            </a:pPr>
            <a:r>
              <a:rPr lang="en-US" dirty="0"/>
              <a:t>and improved my overall coding design.</a:t>
            </a:r>
          </a:p>
          <a:p>
            <a:pPr>
              <a:spcAft>
                <a:spcPts val="400"/>
              </a:spcAft>
              <a:defRPr sz="2100">
                <a:solidFill>
                  <a:srgbClr val="222830"/>
                </a:solidFill>
              </a:defRPr>
            </a:pPr>
            <a:r>
              <a:rPr lang="en-US" dirty="0"/>
              <a:t>Learned that </a:t>
            </a:r>
            <a:r>
              <a:rPr dirty="0"/>
              <a:t>sustainability </a:t>
            </a:r>
            <a:r>
              <a:rPr lang="en-US" dirty="0"/>
              <a:t>developments</a:t>
            </a:r>
            <a:r>
              <a:rPr dirty="0"/>
              <a:t> can </a:t>
            </a:r>
            <a:r>
              <a:rPr lang="en-US" dirty="0"/>
              <a:t>be solved</a:t>
            </a:r>
            <a:r>
              <a:rPr dirty="0"/>
              <a:t> </a:t>
            </a:r>
            <a:r>
              <a:rPr lang="en-US" dirty="0"/>
              <a:t>through technical ways</a:t>
            </a:r>
            <a:r>
              <a:rPr dirty="0"/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217920"/>
            <a:ext cx="94457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7E8999"/>
                </a:solidFill>
              </a:defRPr>
            </a:pPr>
            <a:r>
              <a:t>Conclusion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0232" y="621792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7E8999"/>
                </a:solidFill>
              </a:defRPr>
            </a:pPr>
            <a:r>
              <a:t>09</a:t>
            </a:r>
          </a:p>
        </p:txBody>
      </p:sp>
    </p:spTree>
  </p:cSld>
  <p:clrMapOvr>
    <a:masterClrMapping/>
  </p:clrMapOvr>
  <p:transition spd="slow">
    <p:push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9FBFE"/>
            </a:gs>
            <a:gs pos="100000">
              <a:srgbClr val="E1E6ED"/>
            </a:gs>
          </a:gsLst>
          <a:lin ang="16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/>
        </p:nvSpPr>
        <p:spPr>
          <a:xfrm>
            <a:off x="457200" y="320040"/>
            <a:ext cx="960120" cy="411480"/>
          </a:xfrm>
          <a:prstGeom prst="roundRect">
            <a:avLst/>
          </a:prstGeom>
          <a:solidFill>
            <a:srgbClr val="FFC4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 b="1">
                <a:solidFill>
                  <a:srgbClr val="3C2814"/>
                </a:solidFill>
              </a:defRPr>
            </a:pPr>
            <a: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6868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E1926"/>
                </a:solidFill>
              </a:defRPr>
            </a:pPr>
            <a:r>
              <a:t>Appendix</a:t>
            </a:r>
          </a:p>
          <a:p>
            <a:pPr>
              <a:defRPr sz="1800">
                <a:solidFill>
                  <a:srgbClr val="7E8999"/>
                </a:solidFill>
              </a:defRPr>
            </a:pPr>
            <a:r>
              <a:t>Source Code &amp; 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3477940" cy="10977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4AC7B2"/>
                </a:solidFill>
              </a:defRPr>
            </a:pPr>
            <a:r>
              <a:rPr dirty="0"/>
              <a:t>Source Code</a:t>
            </a:r>
          </a:p>
          <a:p>
            <a:pPr>
              <a:spcAft>
                <a:spcPts val="400"/>
              </a:spcAft>
              <a:defRPr sz="1900">
                <a:solidFill>
                  <a:srgbClr val="222830"/>
                </a:solidFill>
              </a:defRPr>
            </a:pPr>
            <a:r>
              <a:rPr b="1" dirty="0"/>
              <a:t>Key file</a:t>
            </a:r>
            <a:r>
              <a:rPr dirty="0"/>
              <a:t>: eco-</a:t>
            </a:r>
            <a:r>
              <a:rPr dirty="0" err="1"/>
              <a:t>matic</a:t>
            </a:r>
            <a:r>
              <a:rPr dirty="0"/>
              <a:t>/</a:t>
            </a:r>
            <a:r>
              <a:rPr dirty="0" err="1"/>
              <a:t>Program.</a:t>
            </a:r>
            <a:r>
              <a:rPr lang="en-US" dirty="0" err="1"/>
              <a:t>cs</a:t>
            </a:r>
            <a:r>
              <a:rPr dirty="0"/>
              <a:t> </a:t>
            </a:r>
            <a:endParaRPr lang="en-US" dirty="0"/>
          </a:p>
          <a:p>
            <a:pPr>
              <a:spcAft>
                <a:spcPts val="400"/>
              </a:spcAft>
              <a:defRPr sz="1900">
                <a:solidFill>
                  <a:srgbClr val="222830"/>
                </a:solidFill>
              </a:defRPr>
            </a:pPr>
            <a:r>
              <a:rPr b="1" dirty="0"/>
              <a:t>Data: </a:t>
            </a:r>
            <a:r>
              <a:rPr dirty="0"/>
              <a:t>inventory.csv</a:t>
            </a:r>
            <a:r>
              <a:rPr lang="en-US" dirty="0"/>
              <a:t>, </a:t>
            </a:r>
            <a:r>
              <a:rPr dirty="0"/>
              <a:t>eventLog.csv.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7260" y="3429000"/>
            <a:ext cx="9907328" cy="13901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C478"/>
                </a:solidFill>
              </a:defRPr>
            </a:pPr>
            <a:r>
              <a:rPr dirty="0"/>
              <a:t>References</a:t>
            </a:r>
          </a:p>
          <a:p>
            <a:pPr>
              <a:spcAft>
                <a:spcPts val="400"/>
              </a:spcAft>
              <a:defRPr sz="1900">
                <a:solidFill>
                  <a:srgbClr val="222830"/>
                </a:solidFill>
              </a:defRPr>
            </a:pPr>
            <a:r>
              <a:rPr dirty="0" err="1"/>
              <a:t>Spectre.Console</a:t>
            </a:r>
            <a:r>
              <a:rPr lang="en-US" dirty="0"/>
              <a:t> https://spectreconsole.net/</a:t>
            </a:r>
            <a:br>
              <a:rPr lang="en-US" dirty="0"/>
            </a:br>
            <a:r>
              <a:rPr dirty="0"/>
              <a:t>.NET documentation for file handling and console APIs.</a:t>
            </a:r>
            <a:r>
              <a:rPr lang="en-US" dirty="0"/>
              <a:t> https://learn.microsoft.com/en-us/dotnet/</a:t>
            </a:r>
            <a:endParaRPr dirty="0"/>
          </a:p>
          <a:p>
            <a:pPr>
              <a:spcAft>
                <a:spcPts val="400"/>
              </a:spcAft>
              <a:defRPr sz="1900">
                <a:solidFill>
                  <a:srgbClr val="222830"/>
                </a:solidFill>
              </a:defRPr>
            </a:pPr>
            <a:r>
              <a:rPr dirty="0"/>
              <a:t>SDG inspiring the recycle-for-credit concept.</a:t>
            </a:r>
            <a:r>
              <a:rPr lang="en-US" dirty="0"/>
              <a:t> https://sdgs.un.org/goals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914400" y="6217920"/>
            <a:ext cx="94457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7E8999"/>
                </a:solidFill>
              </a:defRPr>
            </a:pPr>
            <a:r>
              <a:t>Appendix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0232" y="621792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7E8999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  <p:transition spd="slow">
    <p:push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598</Words>
  <Application>Microsoft Office PowerPoint</Application>
  <PresentationFormat>Custom</PresentationFormat>
  <Paragraphs>105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Sean Paul</cp:lastModifiedBy>
  <cp:revision>4</cp:revision>
  <dcterms:created xsi:type="dcterms:W3CDTF">2013-01-27T09:14:16Z</dcterms:created>
  <dcterms:modified xsi:type="dcterms:W3CDTF">2025-11-16T16:37:09Z</dcterms:modified>
  <cp:category/>
</cp:coreProperties>
</file>