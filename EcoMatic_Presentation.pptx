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7" r:id="rId9"/>
    <p:sldId id="268" r:id="rId10"/>
    <p:sldId id="262" r:id="rId11"/>
    <p:sldId id="263" r:id="rId12"/>
    <p:sldId id="264" r:id="rId13"/>
    <p:sldId id="265" r:id="rId14"/>
    <p:sldId id="266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Eco-Matic Midterm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6693948" cy="14927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E1926"/>
                </a:solidFill>
              </a:defRPr>
            </a:pPr>
            <a:r>
              <a:rPr dirty="0"/>
              <a:t>Eco-Matic Vending Machine</a:t>
            </a:r>
          </a:p>
          <a:p>
            <a:pPr>
              <a:spcBef>
                <a:spcPts val="600"/>
              </a:spcBef>
              <a:defRPr sz="2400">
                <a:solidFill>
                  <a:srgbClr val="222830"/>
                </a:solidFill>
              </a:defRPr>
            </a:pPr>
            <a:r>
              <a:rPr dirty="0"/>
              <a:t>Console Application in C#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rPr lang="en-US" dirty="0"/>
              <a:t>Conde </a:t>
            </a:r>
            <a:r>
              <a:rPr dirty="0"/>
              <a:t>· </a:t>
            </a:r>
            <a:r>
              <a:rPr lang="en-US" dirty="0"/>
              <a:t> </a:t>
            </a:r>
            <a:r>
              <a:rPr dirty="0"/>
              <a:t>Sustainable Tech Midterm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2011680" cy="109728"/>
          </a:xfrm>
          <a:prstGeom prst="rect">
            <a:avLst/>
          </a:prstGeom>
          <a:solidFill>
            <a:srgbClr val="4AC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830"/>
                </a:solidFill>
              </a:defRPr>
            </a:pPr>
            <a:r>
              <a:t>Simple, data-backed walkthrough of our SDG-focused vending concept.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endParaRPr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Project Overview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Purpose • Features • Audience •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844444" cy="22878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Purpose: </a:t>
            </a:r>
            <a:r>
              <a:rPr dirty="0"/>
              <a:t>Console-based </a:t>
            </a:r>
            <a:r>
              <a:rPr lang="en-US" dirty="0"/>
              <a:t>vending machine</a:t>
            </a:r>
            <a:r>
              <a:rPr dirty="0"/>
              <a:t> that rewards recycling to </a:t>
            </a:r>
            <a:r>
              <a:rPr lang="en-US" dirty="0"/>
              <a:t>help with the SDG’s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Features: </a:t>
            </a:r>
            <a:r>
              <a:rPr dirty="0"/>
              <a:t>Dual customer/admin flows, CSV persistence, </a:t>
            </a:r>
            <a:r>
              <a:rPr dirty="0" err="1"/>
              <a:t>Spectre.Console</a:t>
            </a:r>
            <a:r>
              <a:rPr dirty="0"/>
              <a:t> dashboards, UTC logging.</a:t>
            </a:r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dirty="0"/>
              <a:t>Target Audience: Instructors, classmates, and sustainability advocates evaluating the concept.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Technology Stack: </a:t>
            </a:r>
            <a:r>
              <a:rPr dirty="0"/>
              <a:t>C# on .NET 9 with </a:t>
            </a:r>
            <a:r>
              <a:rPr dirty="0" err="1"/>
              <a:t>Spectre.Console</a:t>
            </a:r>
            <a:r>
              <a:rPr dirty="0"/>
              <a:t>, System.IO, and ANSI-styled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4AC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E1926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rPr dirty="0"/>
              <a:t>Requirements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rPr dirty="0"/>
              <a:t>Software • Installation •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7907486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Software: </a:t>
            </a:r>
            <a:r>
              <a:rPr dirty="0"/>
              <a:t>.NET 9 SDK, </a:t>
            </a:r>
            <a:r>
              <a:rPr dirty="0" err="1"/>
              <a:t>Spectre.Console</a:t>
            </a:r>
            <a:r>
              <a:rPr dirty="0"/>
              <a:t> package, and VS Code/VS 2022.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System: </a:t>
            </a:r>
            <a:r>
              <a:rPr lang="en-US" sz="2100" dirty="0"/>
              <a:t>Any modern computer capable of running the .NET runtime</a:t>
            </a:r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40312" y="182880"/>
            <a:ext cx="91440" cy="6492240"/>
          </a:xfrm>
          <a:prstGeom prst="rect">
            <a:avLst/>
          </a:prstGeom>
          <a:solidFill>
            <a:srgbClr val="4AC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C# Console Application Project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File Handling Overview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Inventory • Event Log •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0785" cy="26622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Inventory CSV </a:t>
            </a:r>
            <a:r>
              <a:rPr dirty="0"/>
              <a:t>tracks slot type, name, price, stock, calories/volume.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Event log CSV </a:t>
            </a:r>
            <a:r>
              <a:rPr dirty="0"/>
              <a:t>chronicles purchases, recycle credits, and admin actions with timestamps.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Operations: </a:t>
            </a:r>
            <a:r>
              <a:rPr dirty="0"/>
              <a:t>load arrays on startup, rewrite inventory after edits, append log entries instantly.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Safeguards: </a:t>
            </a:r>
            <a:r>
              <a:rPr dirty="0"/>
              <a:t>Header validation, numeric checks, and auto-regeneration for missing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File Handling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>
                <p:childTnLst>
                  <p:par>
                    <p:cTn id="3" dur="500" fill="hold">
                      <p:stCondLst>
                        <p:cond evt="onBegin" delay="0"/>
                      </p:stCondLst>
                      <p:childTnLst>
                        <p:animEffect transition="in" filter="fade">
                          <p:cBhvr>
                            <p:cTn id="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dur="500" fill="hold">
                      <p:stCondLst>
                        <p:cond evt="onBegin" delay="150"/>
                      </p:stCondLst>
                      <p:childTnLst>
                        <p:animEffect transition="in" filter="fade">
                          <p:cBhvr>
                            <p:cTn id="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dur="500" fill="hold">
                      <p:stCondLst>
                        <p:cond evt="onBegin" delay="300"/>
                      </p:stCondLst>
                      <p:childTnLst>
                        <p:animEffect transition="in" filter="fade">
                          <p:cBhvr>
                            <p:cTn id="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dur="500" fill="hold">
                      <p:stCondLst>
                        <p:cond evt="onBegin" delay="450"/>
                      </p:stCondLst>
                      <p:childTnLst>
                        <p:animEffect transition="in" filter="fade">
                          <p:cBhvr>
                            <p:cTn id="1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dur="500" fill="hold">
                      <p:stCondLst>
                        <p:cond evt="onBegin" delay="600"/>
                      </p:stCondLst>
                      <p:childTnLst>
                        <p:animEffect transition="in" filter="fade">
                          <p:cBhvr>
                            <p:cTn id="1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3" dur="500" fill="hold">
                      <p:stCondLst>
                        <p:cond evt="onBegin" delay="750"/>
                      </p:stCondLst>
                      <p:childTnLst>
                        <p:animEffect transition="in" filter="fade">
                          <p:cBhvr>
                            <p:cTn id="14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" dur="500" fill="hold">
                      <p:stCondLst>
                        <p:cond evt="onBegin" delay="900"/>
                      </p:stCondLst>
                      <p:childTnLst>
                        <p:animEffect transition="in" filter="fade">
                          <p:cBhvr>
                            <p:cTn id="1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4AC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E1926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Code Structure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Classes • Methods • Modularity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633680" cy="30367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 err="1"/>
              <a:t>EcoMatic</a:t>
            </a:r>
            <a:r>
              <a:rPr dirty="0"/>
              <a:t> coordinates menus, balance handling, inventory updates, and logging.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 err="1"/>
              <a:t>VendingItem</a:t>
            </a:r>
            <a:r>
              <a:rPr dirty="0"/>
              <a:t> base + Snack/Drink/Misc overrides deliver flavor text and CSV serialization.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dirty="0"/>
              <a:t>Helpers (</a:t>
            </a:r>
            <a:r>
              <a:rPr b="1" dirty="0"/>
              <a:t>Write</a:t>
            </a:r>
            <a:r>
              <a:rPr dirty="0"/>
              <a:t>, </a:t>
            </a:r>
            <a:r>
              <a:rPr b="1" dirty="0" err="1"/>
              <a:t>TransactionTracker</a:t>
            </a:r>
            <a:r>
              <a:rPr dirty="0"/>
              <a:t>, </a:t>
            </a:r>
            <a:r>
              <a:rPr b="1" dirty="0" err="1"/>
              <a:t>RecycleTracker</a:t>
            </a:r>
            <a:r>
              <a:rPr dirty="0"/>
              <a:t>, </a:t>
            </a:r>
            <a:r>
              <a:rPr b="1" dirty="0" err="1"/>
              <a:t>SalesReport</a:t>
            </a:r>
            <a:r>
              <a:rPr dirty="0"/>
              <a:t>) isolate responsibilities</a:t>
            </a:r>
            <a:r>
              <a:rPr lang="en-US" dirty="0"/>
              <a:t> / make</a:t>
            </a:r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lang="en-US" dirty="0"/>
              <a:t>code more maintainable/readable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Modularity</a:t>
            </a:r>
            <a:r>
              <a:rPr dirty="0"/>
              <a:t>: Constants define slot/stock limits to keep the single-file layout readable.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Code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2964979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rPr dirty="0"/>
              <a:t>User Interface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rPr dirty="0"/>
              <a:t>Design • Input/Output • </a:t>
            </a:r>
            <a:r>
              <a:rPr lang="en-US" dirty="0"/>
              <a:t>Flow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271723" cy="1913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 err="1"/>
              <a:t>Spectre.Console</a:t>
            </a:r>
            <a:r>
              <a:rPr b="1" dirty="0"/>
              <a:t> </a:t>
            </a:r>
            <a:r>
              <a:rPr dirty="0"/>
              <a:t>tables and color-coded stock dots create a dashboard look.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Customer path</a:t>
            </a:r>
            <a:r>
              <a:rPr dirty="0"/>
              <a:t>: insert bills</a:t>
            </a:r>
            <a:r>
              <a:rPr lang="en-US" dirty="0"/>
              <a:t>,</a:t>
            </a:r>
            <a:r>
              <a:rPr dirty="0"/>
              <a:t> examine</a:t>
            </a:r>
            <a:r>
              <a:rPr lang="en-US" dirty="0"/>
              <a:t> items, </a:t>
            </a:r>
            <a:r>
              <a:rPr dirty="0"/>
              <a:t>buy items</a:t>
            </a:r>
            <a:r>
              <a:rPr lang="en-US" dirty="0"/>
              <a:t>,</a:t>
            </a:r>
            <a:r>
              <a:rPr dirty="0"/>
              <a:t> recycle</a:t>
            </a:r>
            <a:r>
              <a:rPr lang="en-US" dirty="0"/>
              <a:t>, </a:t>
            </a:r>
            <a:r>
              <a:rPr dirty="0"/>
              <a:t>receive change + receipt.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Admin path: </a:t>
            </a:r>
            <a:r>
              <a:rPr dirty="0"/>
              <a:t>password gate for restock, add/remove items, view/clear logs, run sales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A14240-7277-B8F8-C23E-3F65DCCF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50" y="0"/>
            <a:ext cx="11350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1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AFD345-DC2D-D463-0C35-866E0DC0D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01" y="0"/>
            <a:ext cx="11102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06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BC472-2ABC-23E3-7273-622830024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01" y="0"/>
            <a:ext cx="11102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8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4AC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E1926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Challenges &amp; Solutions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Development Hurdles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001695" cy="1913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CSV integrity: </a:t>
            </a:r>
            <a:r>
              <a:rPr dirty="0"/>
              <a:t>validation + auto-rebuild routines prevent corruptio</a:t>
            </a:r>
            <a:r>
              <a:rPr lang="en-US" dirty="0"/>
              <a:t>n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Array constraints: </a:t>
            </a:r>
            <a:r>
              <a:rPr dirty="0"/>
              <a:t>trackers reset every session to avoid overflow and stale data.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Single-file: </a:t>
            </a:r>
            <a:r>
              <a:rPr dirty="0"/>
              <a:t>helper classes and regions keep logic modular despite the constraint.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Challenges &amp;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Testing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Cases • Results •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86776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Cases: </a:t>
            </a:r>
            <a:r>
              <a:rPr dirty="0"/>
              <a:t>normal purchases, insufficient funds, sold-out items, recycle bounds, admin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4AC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E1926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Future Enhancements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Planned Features •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7961795" cy="1913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dirty="0"/>
              <a:t>Refactor by splitting </a:t>
            </a:r>
            <a:r>
              <a:rPr b="1" dirty="0" err="1"/>
              <a:t>Program.cs</a:t>
            </a:r>
            <a:r>
              <a:rPr b="1" dirty="0"/>
              <a:t> </a:t>
            </a:r>
            <a:r>
              <a:rPr dirty="0"/>
              <a:t>and adopting collections for scalability.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b="1" dirty="0"/>
              <a:t>Analytics: </a:t>
            </a:r>
            <a:r>
              <a:rPr dirty="0"/>
              <a:t>configurable recycle catalog plus multi-day dashboards.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lang="en-US" b="1" dirty="0"/>
              <a:t>UI</a:t>
            </a:r>
            <a:r>
              <a:rPr b="1" dirty="0"/>
              <a:t>: </a:t>
            </a:r>
            <a:r>
              <a:rPr dirty="0"/>
              <a:t>GUI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Conclusion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Reflection •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8884099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lang="en-US" dirty="0"/>
              <a:t>This project deepen my knowledge on the concept of </a:t>
            </a:r>
            <a:r>
              <a:rPr dirty="0"/>
              <a:t>OOP</a:t>
            </a:r>
            <a:endParaRPr lang="en-US" dirty="0"/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lang="en-US" dirty="0"/>
              <a:t>I also learned to implement </a:t>
            </a:r>
            <a:r>
              <a:rPr dirty="0"/>
              <a:t>file I/O</a:t>
            </a:r>
            <a:r>
              <a:rPr lang="en-US" dirty="0"/>
              <a:t> in my program,</a:t>
            </a:r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lang="en-US" dirty="0"/>
              <a:t>and improved my overall coding design.</a:t>
            </a:r>
          </a:p>
          <a:p>
            <a:pPr>
              <a:spcAft>
                <a:spcPts val="400"/>
              </a:spcAft>
              <a:defRPr sz="2100">
                <a:solidFill>
                  <a:srgbClr val="222830"/>
                </a:solidFill>
              </a:defRPr>
            </a:pPr>
            <a:r>
              <a:rPr lang="en-US" dirty="0"/>
              <a:t>Learned that </a:t>
            </a:r>
            <a:r>
              <a:rPr dirty="0"/>
              <a:t>sustainability </a:t>
            </a:r>
            <a:r>
              <a:rPr lang="en-US" dirty="0"/>
              <a:t>developments</a:t>
            </a:r>
            <a:r>
              <a:rPr dirty="0"/>
              <a:t> can </a:t>
            </a:r>
            <a:r>
              <a:rPr lang="en-US" dirty="0"/>
              <a:t>be solved</a:t>
            </a:r>
            <a:r>
              <a:rPr dirty="0"/>
              <a:t> </a:t>
            </a:r>
            <a:r>
              <a:rPr lang="en-US" dirty="0"/>
              <a:t>through technical ways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BFE"/>
            </a:gs>
            <a:gs pos="100000">
              <a:srgbClr val="E1E6E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926"/>
                </a:solidFill>
              </a:defRPr>
            </a:pPr>
            <a:r>
              <a:t>Appendix</a:t>
            </a:r>
          </a:p>
          <a:p>
            <a:pPr>
              <a:defRPr sz="1800">
                <a:solidFill>
                  <a:srgbClr val="7E8999"/>
                </a:solidFill>
              </a:defRPr>
            </a:pPr>
            <a:r>
              <a:t>Source Code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477940" cy="1097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AC7B2"/>
                </a:solidFill>
              </a:defRPr>
            </a:pPr>
            <a:r>
              <a:rPr dirty="0"/>
              <a:t>Source Code</a:t>
            </a:r>
          </a:p>
          <a:p>
            <a:pPr>
              <a:spcAft>
                <a:spcPts val="400"/>
              </a:spcAft>
              <a:defRPr sz="1900">
                <a:solidFill>
                  <a:srgbClr val="222830"/>
                </a:solidFill>
              </a:defRPr>
            </a:pPr>
            <a:r>
              <a:rPr b="1" dirty="0"/>
              <a:t>Key file</a:t>
            </a:r>
            <a:r>
              <a:rPr dirty="0"/>
              <a:t>: eco-</a:t>
            </a:r>
            <a:r>
              <a:rPr dirty="0" err="1"/>
              <a:t>matic</a:t>
            </a:r>
            <a:r>
              <a:rPr dirty="0"/>
              <a:t>/Program. </a:t>
            </a:r>
            <a:endParaRPr lang="en-US" dirty="0"/>
          </a:p>
          <a:p>
            <a:pPr>
              <a:spcAft>
                <a:spcPts val="400"/>
              </a:spcAft>
              <a:defRPr sz="1900">
                <a:solidFill>
                  <a:srgbClr val="222830"/>
                </a:solidFill>
              </a:defRPr>
            </a:pPr>
            <a:r>
              <a:rPr b="1" dirty="0"/>
              <a:t>Data: </a:t>
            </a:r>
            <a:r>
              <a:rPr dirty="0"/>
              <a:t>inventory.csv</a:t>
            </a:r>
            <a:r>
              <a:rPr lang="en-US" dirty="0"/>
              <a:t>, </a:t>
            </a:r>
            <a:r>
              <a:rPr dirty="0"/>
              <a:t>eventLog.csv.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" y="3429000"/>
            <a:ext cx="9907328" cy="13901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C478"/>
                </a:solidFill>
              </a:defRPr>
            </a:pPr>
            <a:r>
              <a:rPr dirty="0"/>
              <a:t>References</a:t>
            </a:r>
          </a:p>
          <a:p>
            <a:pPr>
              <a:spcAft>
                <a:spcPts val="400"/>
              </a:spcAft>
              <a:defRPr sz="1900">
                <a:solidFill>
                  <a:srgbClr val="222830"/>
                </a:solidFill>
              </a:defRPr>
            </a:pPr>
            <a:r>
              <a:rPr dirty="0" err="1"/>
              <a:t>Spectre.Console</a:t>
            </a:r>
            <a:r>
              <a:rPr lang="en-US" dirty="0"/>
              <a:t> https://spectreconsole.net/</a:t>
            </a:r>
            <a:br>
              <a:rPr lang="en-US" dirty="0"/>
            </a:br>
            <a:r>
              <a:rPr dirty="0"/>
              <a:t>.NET documentation for file handling and console APIs.</a:t>
            </a:r>
            <a:r>
              <a:rPr lang="en-US" dirty="0"/>
              <a:t> https://learn.microsoft.com/en-us/dotnet/</a:t>
            </a:r>
            <a:endParaRPr dirty="0"/>
          </a:p>
          <a:p>
            <a:pPr>
              <a:spcAft>
                <a:spcPts val="400"/>
              </a:spcAft>
              <a:defRPr sz="1900">
                <a:solidFill>
                  <a:srgbClr val="222830"/>
                </a:solidFill>
              </a:defRPr>
            </a:pPr>
            <a:r>
              <a:rPr dirty="0"/>
              <a:t>SDG inspiring the recycle-for-credit concept.</a:t>
            </a:r>
            <a:r>
              <a:rPr lang="en-US" dirty="0"/>
              <a:t> https://sdgs.un.org/goals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E8999"/>
                </a:solidFill>
              </a:defRPr>
            </a:pPr>
            <a: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8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603</Words>
  <Application>Microsoft Office PowerPoint</Application>
  <PresentationFormat>Custom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Sean Paul</cp:lastModifiedBy>
  <cp:revision>2</cp:revision>
  <dcterms:created xsi:type="dcterms:W3CDTF">2013-01-27T09:14:16Z</dcterms:created>
  <dcterms:modified xsi:type="dcterms:W3CDTF">2025-11-16T16:33:04Z</dcterms:modified>
  <cp:category/>
</cp:coreProperties>
</file>