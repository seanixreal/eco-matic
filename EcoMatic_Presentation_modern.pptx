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1352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3E8CFF"/>
              </a:gs>
              <a:gs pos="100000">
                <a:srgbClr val="52D8B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Eco-Matic Midterm Showcase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005840"/>
            <a:ext cx="6766560" cy="3383280"/>
          </a:xfrm>
          <a:prstGeom prst="roundRect">
            <a:avLst/>
          </a:prstGeom>
          <a:gradFill rotWithShape="1">
            <a:gsLst>
              <a:gs pos="0">
                <a:srgbClr val="52D8BC"/>
              </a:gs>
              <a:gs pos="100000">
                <a:srgbClr val="3E8C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000" b="1">
                <a:solidFill>
                  <a:srgbClr val="081A30"/>
                </a:solidFill>
              </a:defRPr>
            </a:pPr>
            <a:r>
              <a:t>Eco-Matic Vending Machine</a:t>
            </a:r>
          </a:p>
          <a:p>
            <a:pPr>
              <a:defRPr sz="2400">
                <a:solidFill>
                  <a:srgbClr val="1C2129"/>
                </a:solidFill>
              </a:defRPr>
            </a:pPr>
            <a:r>
              <a:t>Console Application in C#</a:t>
            </a:r>
          </a:p>
          <a:p>
            <a:pPr>
              <a:defRPr sz="1800">
                <a:solidFill>
                  <a:srgbClr val="2D3440"/>
                </a:solidFill>
              </a:defRPr>
            </a:pPr>
            <a:r>
              <a:t>Seanix Real | Sustainable Tech Midterm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63440"/>
            <a:ext cx="4754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93776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E8CFF"/>
                </a:solidFill>
              </a:defRPr>
            </a:pPr>
            <a:r>
              <a:t>Highlights</a:t>
            </a:r>
          </a:p>
          <a:p>
            <a:pPr>
              <a:defRPr sz="1600">
                <a:solidFill>
                  <a:srgbClr val="1C2129"/>
                </a:solidFill>
              </a:defRPr>
            </a:pPr>
            <a:r>
              <a:t>Trash-to-credit • SDG12 • Spectre.Console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Tomorrow's live demo ready • MIT Licensed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1352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3E8CFF"/>
              </a:gs>
              <a:gs pos="100000">
                <a:srgbClr val="52D8B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Project Overview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Purpose • Features • Audience •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515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81151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Purpose: Console-based kiosk that rewards recycling to spotlight SDG 12.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Features: Dual customer/admin flows, CSV persistence, Spectre.Console dashboards, UTC logging.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Target Audience: Instructors, classmates, and sustainability advocates evaluating the concept.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Technology Stack: C# on .NET 9 with Spectre.Console, System.IO, and ANSI-styled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01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52D8BC"/>
              </a:gs>
              <a:gs pos="100000">
                <a:srgbClr val="3E8CFF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52D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81A30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Requirements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Software • Installation •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515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81151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Software: .NET 9 SDK, Spectre.Console package, and VS Code/VS 2022.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Installation: `dotnet restore &amp;&amp; dotnet build eco-matic/eco-matic.csproj` to prime data.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Run: `dotnet run --project eco-matic/eco-matic.csproj` from the repository root.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System: Any Windows laptop capable of running console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02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1352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3E8CFF"/>
              </a:gs>
              <a:gs pos="100000">
                <a:srgbClr val="52D8B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File Handling Overview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Inventory • Event Log • Safeguards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515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81151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Inventory CSV tracks slot type, name, price, stock, calories/volume.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Event log CSV chronicles purchases, recycle credits, and admin actions with timestamps.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Operations: load arrays on startup, rewrite inventory after edits, append log entries instantly.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Safeguards: Header validation, numeric checks, and auto-regeneration for missing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File Handling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03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52D8BC"/>
              </a:gs>
              <a:gs pos="100000">
                <a:srgbClr val="3E8CFF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52D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81A30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Code Structure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Classes • Methods • Modularity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515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81151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`EcoMatic` coordinates menus, balance handling, inventory updates, and logging.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`VendingItem` base + Snack/Drink/Misc overrides deliver flavor text and CSV serialization.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Helpers (`Write`, `TransactionTracker`, `RecycleTracker`, `SalesReport`) isolate responsibilities.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Modularity: Constants define slot/stock limits to keep the single-file layout readable.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Code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04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1352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3E8CFF"/>
              </a:gs>
              <a:gs pos="100000">
                <a:srgbClr val="52D8B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User Interface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Design • Input/Output •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515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81151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Spectre.Console tables and color-coded stock dots create a dashboard look.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Customer path: insert bills → examine/buy items → recycle → receive change + receipt.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Admin path: password gate for restock, add/remove items, view/clear logs, run sales report.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Error guidance: the `Write` helper highlights invalid bills, IDs, and ranges.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05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52D8BC"/>
              </a:gs>
              <a:gs pos="100000">
                <a:srgbClr val="3E8CFF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52D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81A30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Challenges &amp; Solutions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Development Hurdles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515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81151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CSV integrity: validation + auto-rebuild routines prevent corruption during demos.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Array constraints: trackers reset every session to avoid overflow and stale data.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Single-file rule: helper classes and regions keep logic modular despite the constraint.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Storytelling: UX copy keeps the SDG recycling narrative front-and-center.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Challenges &amp;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06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1352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3E8CFF"/>
              </a:gs>
              <a:gs pos="100000">
                <a:srgbClr val="52D8B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Testing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Cases • Results •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515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81151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Cases: normal purchases, insufficient funds, sold-out items, recycle bounds, admin tasks.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Evidence: reviewed CSV diffs and event log lines after each scenario.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Tooling: `dotnet build` before demos guarantees a clean compile state.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Limitations: testing is still manual; scripted regressions are planned.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07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52D8BC"/>
              </a:gs>
              <a:gs pos="100000">
                <a:srgbClr val="3E8CFF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52D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81A30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Future Enhancements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Planned Features •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515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81151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Refactor by splitting `Program.cs` and adopting collections for scalability.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Analytics: configurable recycle catalog plus multi-day dashboards.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UX: GUI or web client for kiosk-ready deployments and remote admin control.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Performance: inventory valuation, restock forecasting, and caching strategies.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08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1352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3E8CFF"/>
              </a:gs>
              <a:gs pos="100000">
                <a:srgbClr val="52D8B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Conclusion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Reflection •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515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811512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Learned to blend OOP, file I/O, and UX storytelling inside a console context.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Validated that sustainability narratives can live within technical deliverables.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Project already ships with MIT license, docs, and a ready-to-demo build.</a:t>
            </a:r>
          </a:p>
          <a:p>
            <a:pPr>
              <a:spcAft>
                <a:spcPts val="400"/>
              </a:spcAft>
              <a:defRPr sz="2100">
                <a:solidFill>
                  <a:srgbClr val="1C2129"/>
                </a:solidFill>
              </a:defRPr>
            </a:pPr>
            <a:r>
              <a:t>Next steps: modular refactor plus analytics-driven roadmap.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09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3182B"/>
            </a:gs>
            <a:gs pos="100000">
              <a:srgbClr val="081A3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1352" y="91440"/>
            <a:ext cx="3657600" cy="6675120"/>
          </a:xfrm>
          <a:prstGeom prst="roundRect">
            <a:avLst/>
          </a:prstGeom>
          <a:gradFill rotWithShape="1">
            <a:gsLst>
              <a:gs pos="0">
                <a:srgbClr val="3E8CFF"/>
              </a:gs>
              <a:gs pos="100000">
                <a:srgbClr val="52D8B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914400"/>
            <a:ext cx="1237183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3C9D5"/>
                </a:solidFill>
              </a:defRPr>
            </a:pPr>
            <a:r>
              <a:t>C# Console Application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"/>
            <a:ext cx="960120" cy="411480"/>
          </a:xfrm>
          <a:prstGeom prst="roundRect">
            <a:avLst/>
          </a:prstGeom>
          <a:solidFill>
            <a:srgbClr val="FFB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3C2814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1008583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6F8FC"/>
                </a:solidFill>
              </a:defRPr>
            </a:pPr>
            <a:r>
              <a:t>Appendix</a:t>
            </a:r>
          </a:p>
          <a:p>
            <a:pPr>
              <a:defRPr sz="1800">
                <a:solidFill>
                  <a:srgbClr val="C9D0DD"/>
                </a:solidFill>
              </a:defRPr>
            </a:pPr>
            <a:r>
              <a:t>Source Code &amp; 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828800"/>
            <a:ext cx="490575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103120"/>
            <a:ext cx="4265676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2D8BC"/>
                </a:solidFill>
              </a:defRPr>
            </a:pPr>
            <a:r>
              <a:t>Source Code</a:t>
            </a:r>
          </a:p>
          <a:p>
            <a:pPr>
              <a:spcAft>
                <a:spcPts val="400"/>
              </a:spcAft>
              <a:defRPr sz="1900">
                <a:solidFill>
                  <a:srgbClr val="1C2129"/>
                </a:solidFill>
              </a:defRPr>
            </a:pPr>
            <a:r>
              <a:t>Repo: Eco-Matic (branch feature/eco-matic-refactoring).</a:t>
            </a:r>
          </a:p>
          <a:p>
            <a:pPr>
              <a:spcAft>
                <a:spcPts val="400"/>
              </a:spcAft>
              <a:defRPr sz="1900">
                <a:solidFill>
                  <a:srgbClr val="1C2129"/>
                </a:solidFill>
              </a:defRPr>
            </a:pPr>
            <a:r>
              <a:t>Key file: `eco-matic/Program.cs` (single-file implementation).</a:t>
            </a:r>
          </a:p>
          <a:p>
            <a:pPr>
              <a:spcAft>
                <a:spcPts val="400"/>
              </a:spcAft>
              <a:defRPr sz="1900">
                <a:solidFill>
                  <a:srgbClr val="1C2129"/>
                </a:solidFill>
              </a:defRPr>
            </a:pPr>
            <a:r>
              <a:t>Data: `eco-matic/data/inventory.csv` + `eventLog.csv`.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828800"/>
            <a:ext cx="490575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5956" y="2103120"/>
            <a:ext cx="4265676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BE5D"/>
                </a:solidFill>
              </a:defRPr>
            </a:pPr>
            <a:r>
              <a:t>References</a:t>
            </a:r>
          </a:p>
          <a:p>
            <a:pPr>
              <a:spcAft>
                <a:spcPts val="400"/>
              </a:spcAft>
              <a:defRPr sz="1900">
                <a:solidFill>
                  <a:srgbClr val="1C2129"/>
                </a:solidFill>
              </a:defRPr>
            </a:pPr>
            <a:r>
              <a:t>Spectre.Console docs for tables, markup, and styling.</a:t>
            </a:r>
          </a:p>
          <a:p>
            <a:pPr>
              <a:spcAft>
                <a:spcPts val="400"/>
              </a:spcAft>
              <a:defRPr sz="1900">
                <a:solidFill>
                  <a:srgbClr val="1C2129"/>
                </a:solidFill>
              </a:defRPr>
            </a:pPr>
            <a:r>
              <a:t>.NET documentation for file handling and console APIs.</a:t>
            </a:r>
          </a:p>
          <a:p>
            <a:pPr>
              <a:spcAft>
                <a:spcPts val="400"/>
              </a:spcAft>
              <a:defRPr sz="1900">
                <a:solidFill>
                  <a:srgbClr val="1C2129"/>
                </a:solidFill>
              </a:defRPr>
            </a:pPr>
            <a:r>
              <a:t>UN SDG 12 resources inspiring the recycle-for-credit concept.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4A3"/>
                </a:solidFill>
              </a:defRPr>
            </a:pPr>
            <a:r>
              <a:t>Appendix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232" y="62179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A3"/>
                </a:solidFill>
              </a:defRPr>
            </a:pPr>
            <a:r>
              <a:t>10</a:t>
            </a:r>
          </a:p>
        </p:txBody>
      </p:sp>
    </p:spTree>
  </p:cSld>
  <p:transition spd="slow">
    <p:push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>
                <p:childTnLst>
                  <p:par>
                    <p:cTn id="3" dur="500" fill="hold">
                      <p:stCondLst>
                        <p:cond delay="0" evt="onBegin"/>
                      </p:stCondLst>
                      <p:childTnLst>
                        <p:animEffect transition="in" filter="fade" advClick="0" lvl="0">
                          <p:cBhvr>
                            <p:cTn id="4" dur="5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dur="500" fill="hold">
                      <p:stCondLst>
                        <p:cond delay="150" evt="onBegin"/>
                      </p:stCondLst>
                      <p:childTnLst>
                        <p:animEffect transition="in" filter="fade" advClick="0" lvl="0">
                          <p:cBhvr>
                            <p:cTn id="6" dur="5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" dur="500" fill="hold">
                      <p:stCondLst>
                        <p:cond delay="300" evt="onBegin"/>
                      </p:stCondLst>
                      <p:childTnLst>
                        <p:animEffect transition="in" filter="fade" advClick="0" lvl="0">
                          <p:cBhvr>
                            <p:cTn id="8" dur="5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dur="500" fill="hold">
                      <p:stCondLst>
                        <p:cond delay="450" evt="onBegin"/>
                      </p:stCondLst>
                      <p:childTnLst>
                        <p:animEffect transition="in" filter="fade" advClick="0" lvl="0">
                          <p:cBhvr>
                            <p:cTn id="10" dur="5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" dur="500" fill="hold">
                      <p:stCondLst>
                        <p:cond delay="600" evt="onBegin"/>
                      </p:stCondLst>
                      <p:childTnLst>
                        <p:animEffect transition="in" filter="fade" advClick="0" lvl="0">
                          <p:cBhvr>
                            <p:cTn id="12" dur="5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3" dur="500" fill="hold">
                      <p:stCondLst>
                        <p:cond delay="750" evt="onBegin"/>
                      </p:stCondLst>
                      <p:childTnLst>
                        <p:animEffect transition="in" filter="fade" advClick="0" lvl="0">
                          <p:cBhvr>
                            <p:cTn id="14" dur="5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" dur="500" fill="hold">
                      <p:stCondLst>
                        <p:cond delay="900" evt="onBegin"/>
                      </p:stCondLst>
                      <p:childTnLst>
                        <p:animEffect transition="in" filter="fade" advClick="0" lvl="0">
                          <p:cBhvr>
                            <p:cTn id="16" dur="5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" dur="500" fill="hold">
                      <p:stCondLst>
                        <p:cond delay="1050" evt="onBegin"/>
                      </p:stCondLst>
                      <p:childTnLst>
                        <p:animEffect transition="in" filter="fade" advClick="0" lvl="0">
                          <p:cBhvr>
                            <p:cTn id="18" dur="5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9" dur="500" fill="hold">
                      <p:stCondLst>
                        <p:cond delay="1200" evt="onBegin"/>
                      </p:stCondLst>
                      <p:childTnLst>
                        <p:animEffect transition="in" filter="fade" advClick="0" lvl="0">
                          <p:cBhvr>
                            <p:cTn id="20" dur="5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1" dur="500" fill="hold">
                      <p:stCondLst>
                        <p:cond delay="1350" evt="onBegin"/>
                      </p:stCondLst>
                      <p:childTnLst>
                        <p:animEffect transition="in" filter="fade" advClick="0" lvl="0">
                          <p:cBhvr>
                            <p:cTn id="22" dur="50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3" dur="500" fill="hold">
                      <p:stCondLst>
                        <p:cond delay="1500" evt="onBegin"/>
                      </p:stCondLst>
                      <p:childTnLst>
                        <p:animEffect transition="in" filter="fade" advClick="0" lvl="0">
                          <p:cBhvr>
                            <p:cTn id="24" dur="5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