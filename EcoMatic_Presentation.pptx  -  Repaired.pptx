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9" r:id="rId8"/>
    <p:sldId id="267" r:id="rId9"/>
    <p:sldId id="268" r:id="rId10"/>
    <p:sldId id="262" r:id="rId11"/>
    <p:sldId id="263" r:id="rId12"/>
    <p:sldId id="264" r:id="rId13"/>
    <p:sldId id="265" r:id="rId14"/>
    <p:sldId id="266" r:id="rId15"/>
  </p:sldIdLst>
  <p:sldSz cx="12188825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 snapToObjects="1">
      <p:cViewPr varScale="1">
        <p:scale>
          <a:sx n="101" d="100"/>
          <a:sy n="101" d="100"/>
        </p:scale>
        <p:origin x="990" y="10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11/17/2025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11/17/2025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11/17/2025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11/17/2025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11/17/2025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11/17/2025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11/17/2025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rgbClr val="F9FBFE"/>
            </a:gs>
            <a:gs pos="100000">
              <a:srgbClr val="E1E6ED"/>
            </a:gs>
          </a:gsLst>
          <a:lin ang="162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914400" y="228600"/>
            <a:ext cx="10360152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C3C9D5"/>
                </a:solidFill>
              </a:defRPr>
            </a:pPr>
            <a:r>
              <a:t>Eco-Matic Midterm Showcase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188720"/>
            <a:ext cx="6693948" cy="149271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>
                <a:solidFill>
                  <a:srgbClr val="0E1926"/>
                </a:solidFill>
              </a:defRPr>
            </a:pPr>
            <a:r>
              <a:rPr dirty="0"/>
              <a:t>Eco-Matic Vending Machine</a:t>
            </a:r>
          </a:p>
          <a:p>
            <a:pPr>
              <a:spcBef>
                <a:spcPts val="600"/>
              </a:spcBef>
              <a:defRPr sz="2400">
                <a:solidFill>
                  <a:srgbClr val="222830"/>
                </a:solidFill>
              </a:defRPr>
            </a:pPr>
            <a:r>
              <a:rPr dirty="0"/>
              <a:t>Console Application in C#</a:t>
            </a:r>
          </a:p>
          <a:p>
            <a:pPr>
              <a:defRPr sz="1800">
                <a:solidFill>
                  <a:srgbClr val="7E8999"/>
                </a:solidFill>
              </a:defRPr>
            </a:pPr>
            <a:r>
              <a:rPr lang="en-US" dirty="0"/>
              <a:t>Conde </a:t>
            </a:r>
            <a:r>
              <a:rPr dirty="0"/>
              <a:t>· </a:t>
            </a:r>
            <a:r>
              <a:rPr lang="en-US" dirty="0"/>
              <a:t> </a:t>
            </a:r>
            <a:r>
              <a:rPr dirty="0"/>
              <a:t>Sustainable Tech Midterm</a:t>
            </a:r>
          </a:p>
        </p:txBody>
      </p:sp>
      <p:sp>
        <p:nvSpPr>
          <p:cNvPr id="5" name="Rectangle 4"/>
          <p:cNvSpPr/>
          <p:nvPr/>
        </p:nvSpPr>
        <p:spPr>
          <a:xfrm>
            <a:off x="914400" y="3840480"/>
            <a:ext cx="2011680" cy="109728"/>
          </a:xfrm>
          <a:prstGeom prst="rect">
            <a:avLst/>
          </a:prstGeom>
          <a:solidFill>
            <a:srgbClr val="4AC7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914400" y="4114800"/>
            <a:ext cx="10360152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222830"/>
                </a:solidFill>
              </a:defRPr>
            </a:pPr>
            <a:r>
              <a:t>Simple, data-backed walkthrough of our SDG-focused vending concept.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00232" y="6217920"/>
            <a:ext cx="8229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7E8999"/>
                </a:solidFill>
              </a:defRPr>
            </a:pPr>
            <a:endParaRPr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DBC1B321-FDE8-22A8-8B70-328A27DBFD8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37532" y="274320"/>
            <a:ext cx="3885660" cy="3885660"/>
          </a:xfrm>
          <a:prstGeom prst="rect">
            <a:avLst/>
          </a:prstGeom>
        </p:spPr>
      </p:pic>
    </p:spTree>
  </p:cSld>
  <p:clrMapOvr>
    <a:masterClrMapping/>
  </p:clrMapOvr>
  <p:transition spd="slow">
    <p:push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rgbClr val="F9FBFE"/>
            </a:gs>
            <a:gs pos="100000">
              <a:srgbClr val="E1E6ED"/>
            </a:gs>
          </a:gsLst>
          <a:lin ang="162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ounded Rectangle 3"/>
          <p:cNvSpPr/>
          <p:nvPr/>
        </p:nvSpPr>
        <p:spPr>
          <a:xfrm>
            <a:off x="457200" y="320040"/>
            <a:ext cx="960120" cy="411480"/>
          </a:xfrm>
          <a:prstGeom prst="roundRect">
            <a:avLst/>
          </a:prstGeom>
          <a:solidFill>
            <a:srgbClr val="FFC4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1800" b="1">
                <a:solidFill>
                  <a:srgbClr val="3C2814"/>
                </a:solidFill>
              </a:defRPr>
            </a:pPr>
            <a:r>
              <a:t>01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868680"/>
            <a:ext cx="10360152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400" b="1">
                <a:solidFill>
                  <a:srgbClr val="0E1926"/>
                </a:solidFill>
              </a:defRPr>
            </a:pPr>
            <a:r>
              <a:t>Project Overview</a:t>
            </a:r>
          </a:p>
          <a:p>
            <a:pPr>
              <a:defRPr sz="1800">
                <a:solidFill>
                  <a:srgbClr val="7E8999"/>
                </a:solidFill>
              </a:defRPr>
            </a:pPr>
            <a:r>
              <a:t>Purpose • Features • Audience • Stack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1920240"/>
            <a:ext cx="10844444" cy="228780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400"/>
              </a:spcAft>
              <a:defRPr sz="2100">
                <a:solidFill>
                  <a:srgbClr val="222830"/>
                </a:solidFill>
              </a:defRPr>
            </a:pPr>
            <a:r>
              <a:rPr b="1" dirty="0"/>
              <a:t>Purpose: </a:t>
            </a:r>
            <a:r>
              <a:rPr dirty="0"/>
              <a:t>Console-based </a:t>
            </a:r>
            <a:r>
              <a:rPr lang="en-US" dirty="0"/>
              <a:t>vending machine</a:t>
            </a:r>
            <a:r>
              <a:rPr dirty="0"/>
              <a:t> that rewards recycling to </a:t>
            </a:r>
            <a:r>
              <a:rPr lang="en-US" dirty="0"/>
              <a:t>help with the SDG’s</a:t>
            </a:r>
            <a:r>
              <a:rPr dirty="0"/>
              <a:t>.</a:t>
            </a:r>
            <a:endParaRPr lang="en-US" dirty="0"/>
          </a:p>
          <a:p>
            <a:pPr>
              <a:spcAft>
                <a:spcPts val="400"/>
              </a:spcAft>
              <a:defRPr sz="2100">
                <a:solidFill>
                  <a:srgbClr val="222830"/>
                </a:solidFill>
              </a:defRPr>
            </a:pPr>
            <a:endParaRPr dirty="0"/>
          </a:p>
          <a:p>
            <a:pPr>
              <a:spcAft>
                <a:spcPts val="400"/>
              </a:spcAft>
              <a:defRPr sz="2100">
                <a:solidFill>
                  <a:srgbClr val="222830"/>
                </a:solidFill>
              </a:defRPr>
            </a:pPr>
            <a:r>
              <a:rPr b="1" dirty="0"/>
              <a:t>Features: </a:t>
            </a:r>
            <a:r>
              <a:rPr dirty="0"/>
              <a:t>Dual customer/admin flows, CSV persistence, </a:t>
            </a:r>
            <a:r>
              <a:rPr dirty="0" err="1"/>
              <a:t>Spectre.Console</a:t>
            </a:r>
            <a:r>
              <a:rPr dirty="0"/>
              <a:t> dashboards, UTC logging.</a:t>
            </a:r>
          </a:p>
          <a:p>
            <a:pPr>
              <a:spcAft>
                <a:spcPts val="400"/>
              </a:spcAft>
              <a:defRPr sz="2100">
                <a:solidFill>
                  <a:srgbClr val="222830"/>
                </a:solidFill>
              </a:defRPr>
            </a:pPr>
            <a:r>
              <a:rPr dirty="0"/>
              <a:t>Target Audience: Instructors, classmates, and sustainability advocates evaluating the concept.</a:t>
            </a:r>
            <a:endParaRPr lang="en-US" dirty="0"/>
          </a:p>
          <a:p>
            <a:pPr>
              <a:spcAft>
                <a:spcPts val="400"/>
              </a:spcAft>
              <a:defRPr sz="2100">
                <a:solidFill>
                  <a:srgbClr val="222830"/>
                </a:solidFill>
              </a:defRPr>
            </a:pPr>
            <a:endParaRPr dirty="0"/>
          </a:p>
          <a:p>
            <a:pPr>
              <a:spcAft>
                <a:spcPts val="400"/>
              </a:spcAft>
              <a:defRPr sz="2100">
                <a:solidFill>
                  <a:srgbClr val="222830"/>
                </a:solidFill>
              </a:defRPr>
            </a:pPr>
            <a:r>
              <a:rPr b="1" dirty="0"/>
              <a:t>Technology Stack: </a:t>
            </a:r>
            <a:r>
              <a:rPr dirty="0"/>
              <a:t>C# on .NET 9 with </a:t>
            </a:r>
            <a:r>
              <a:rPr dirty="0" err="1"/>
              <a:t>Spectre.Console</a:t>
            </a:r>
            <a:r>
              <a:rPr dirty="0"/>
              <a:t>, System.IO, and ANSI-styled output.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6217920"/>
            <a:ext cx="9445752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7E8999"/>
                </a:solidFill>
              </a:defRPr>
            </a:pPr>
            <a:r>
              <a:t>Project Overview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00232" y="6217920"/>
            <a:ext cx="8229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7E8999"/>
                </a:solidFill>
              </a:defRPr>
            </a:pPr>
            <a:r>
              <a:t>01</a:t>
            </a:r>
          </a:p>
        </p:txBody>
      </p:sp>
    </p:spTree>
  </p:cSld>
  <p:clrMapOvr>
    <a:masterClrMapping/>
  </p:clrMapOvr>
  <p:transition spd="slow">
    <p:push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rgbClr val="F9FBFE"/>
            </a:gs>
            <a:gs pos="100000">
              <a:srgbClr val="E1E6ED"/>
            </a:gs>
          </a:gsLst>
          <a:lin ang="162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ounded Rectangle 3"/>
          <p:cNvSpPr/>
          <p:nvPr/>
        </p:nvSpPr>
        <p:spPr>
          <a:xfrm>
            <a:off x="457200" y="320040"/>
            <a:ext cx="960120" cy="411480"/>
          </a:xfrm>
          <a:prstGeom prst="roundRect">
            <a:avLst/>
          </a:prstGeom>
          <a:solidFill>
            <a:srgbClr val="4AC7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1800" b="1">
                <a:solidFill>
                  <a:srgbClr val="0E1926"/>
                </a:solidFill>
              </a:defRPr>
            </a:pPr>
            <a:r>
              <a:t>02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868680"/>
            <a:ext cx="10360152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400" b="1">
                <a:solidFill>
                  <a:srgbClr val="0E1926"/>
                </a:solidFill>
              </a:defRPr>
            </a:pPr>
            <a:r>
              <a:rPr dirty="0"/>
              <a:t>Requirements</a:t>
            </a:r>
          </a:p>
          <a:p>
            <a:pPr>
              <a:defRPr sz="1800">
                <a:solidFill>
                  <a:srgbClr val="7E8999"/>
                </a:solidFill>
              </a:defRPr>
            </a:pPr>
            <a:r>
              <a:rPr dirty="0"/>
              <a:t>Software • Installation • Hardware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1920240"/>
            <a:ext cx="7907486" cy="1538883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400"/>
              </a:spcAft>
              <a:defRPr sz="2100">
                <a:solidFill>
                  <a:srgbClr val="222830"/>
                </a:solidFill>
              </a:defRPr>
            </a:pPr>
            <a:r>
              <a:rPr b="1" dirty="0"/>
              <a:t>Software: </a:t>
            </a:r>
            <a:r>
              <a:rPr dirty="0"/>
              <a:t>.NET 9 SDK, </a:t>
            </a:r>
            <a:r>
              <a:rPr dirty="0" err="1"/>
              <a:t>Spectre.Console</a:t>
            </a:r>
            <a:r>
              <a:rPr dirty="0"/>
              <a:t> package, and VS Code/VS 2022.</a:t>
            </a:r>
            <a:endParaRPr lang="en-US" dirty="0"/>
          </a:p>
          <a:p>
            <a:pPr>
              <a:spcAft>
                <a:spcPts val="400"/>
              </a:spcAft>
              <a:defRPr sz="2100">
                <a:solidFill>
                  <a:srgbClr val="222830"/>
                </a:solidFill>
              </a:defRPr>
            </a:pPr>
            <a:endParaRPr dirty="0"/>
          </a:p>
          <a:p>
            <a:pPr>
              <a:spcAft>
                <a:spcPts val="400"/>
              </a:spcAft>
              <a:defRPr sz="2100">
                <a:solidFill>
                  <a:srgbClr val="222830"/>
                </a:solidFill>
              </a:defRPr>
            </a:pPr>
            <a:r>
              <a:rPr b="1" dirty="0"/>
              <a:t>System: </a:t>
            </a:r>
            <a:r>
              <a:rPr lang="en-US" sz="2100" dirty="0"/>
              <a:t>Any modern computer capable of running the .NET runtime</a:t>
            </a:r>
          </a:p>
          <a:p>
            <a:pPr>
              <a:spcAft>
                <a:spcPts val="400"/>
              </a:spcAft>
              <a:defRPr sz="2100">
                <a:solidFill>
                  <a:srgbClr val="222830"/>
                </a:solidFill>
              </a:defRPr>
            </a:pPr>
            <a:endParaRPr dirty="0"/>
          </a:p>
        </p:txBody>
      </p:sp>
      <p:sp>
        <p:nvSpPr>
          <p:cNvPr id="7" name="TextBox 6"/>
          <p:cNvSpPr txBox="1"/>
          <p:nvPr/>
        </p:nvSpPr>
        <p:spPr>
          <a:xfrm>
            <a:off x="914400" y="6217920"/>
            <a:ext cx="9445752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7E8999"/>
                </a:solidFill>
              </a:defRPr>
            </a:pPr>
            <a:r>
              <a:t>Requirements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00232" y="6217920"/>
            <a:ext cx="8229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7E8999"/>
                </a:solidFill>
              </a:defRPr>
            </a:pPr>
            <a:r>
              <a:t>02</a:t>
            </a:r>
          </a:p>
        </p:txBody>
      </p:sp>
    </p:spTree>
  </p:cSld>
  <p:clrMapOvr>
    <a:masterClrMapping/>
  </p:clrMapOvr>
  <p:transition spd="slow">
    <p:push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rgbClr val="F9FBFE"/>
            </a:gs>
            <a:gs pos="100000">
              <a:srgbClr val="E1E6ED"/>
            </a:gs>
          </a:gsLst>
          <a:lin ang="162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ounded Rectangle 3"/>
          <p:cNvSpPr/>
          <p:nvPr/>
        </p:nvSpPr>
        <p:spPr>
          <a:xfrm>
            <a:off x="457200" y="320040"/>
            <a:ext cx="960120" cy="411480"/>
          </a:xfrm>
          <a:prstGeom prst="roundRect">
            <a:avLst/>
          </a:prstGeom>
          <a:solidFill>
            <a:srgbClr val="FFC4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1800" b="1">
                <a:solidFill>
                  <a:srgbClr val="3C2814"/>
                </a:solidFill>
              </a:defRPr>
            </a:pPr>
            <a:r>
              <a:t>03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868680"/>
            <a:ext cx="10360152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400" b="1">
                <a:solidFill>
                  <a:srgbClr val="0E1926"/>
                </a:solidFill>
              </a:defRPr>
            </a:pPr>
            <a:r>
              <a:t>File Handling Overview</a:t>
            </a:r>
          </a:p>
          <a:p>
            <a:pPr>
              <a:defRPr sz="1800">
                <a:solidFill>
                  <a:srgbClr val="7E8999"/>
                </a:solidFill>
              </a:defRPr>
            </a:pPr>
            <a:r>
              <a:t>Inventory • Event Log • Safeguards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1920240"/>
            <a:ext cx="10360785" cy="266226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400"/>
              </a:spcAft>
              <a:defRPr sz="2100">
                <a:solidFill>
                  <a:srgbClr val="222830"/>
                </a:solidFill>
              </a:defRPr>
            </a:pPr>
            <a:r>
              <a:rPr b="1" dirty="0"/>
              <a:t>Inventory CSV </a:t>
            </a:r>
            <a:r>
              <a:rPr dirty="0"/>
              <a:t>tracks slot type, name, price, stock, calories/volume.</a:t>
            </a:r>
            <a:endParaRPr lang="en-US" dirty="0"/>
          </a:p>
          <a:p>
            <a:pPr>
              <a:spcAft>
                <a:spcPts val="400"/>
              </a:spcAft>
              <a:defRPr sz="2100">
                <a:solidFill>
                  <a:srgbClr val="222830"/>
                </a:solidFill>
              </a:defRPr>
            </a:pPr>
            <a:endParaRPr dirty="0"/>
          </a:p>
          <a:p>
            <a:pPr>
              <a:spcAft>
                <a:spcPts val="400"/>
              </a:spcAft>
              <a:defRPr sz="2100">
                <a:solidFill>
                  <a:srgbClr val="222830"/>
                </a:solidFill>
              </a:defRPr>
            </a:pPr>
            <a:r>
              <a:rPr b="1" dirty="0"/>
              <a:t>Event log CSV </a:t>
            </a:r>
            <a:r>
              <a:rPr dirty="0"/>
              <a:t>chronicles purchases, recycle credits, and admin actions with timestamps.</a:t>
            </a:r>
            <a:endParaRPr lang="en-US" dirty="0"/>
          </a:p>
          <a:p>
            <a:pPr>
              <a:spcAft>
                <a:spcPts val="400"/>
              </a:spcAft>
              <a:defRPr sz="2100">
                <a:solidFill>
                  <a:srgbClr val="222830"/>
                </a:solidFill>
              </a:defRPr>
            </a:pPr>
            <a:endParaRPr dirty="0"/>
          </a:p>
          <a:p>
            <a:pPr>
              <a:spcAft>
                <a:spcPts val="400"/>
              </a:spcAft>
              <a:defRPr sz="2100">
                <a:solidFill>
                  <a:srgbClr val="222830"/>
                </a:solidFill>
              </a:defRPr>
            </a:pPr>
            <a:r>
              <a:rPr b="1" dirty="0"/>
              <a:t>Operations: </a:t>
            </a:r>
            <a:r>
              <a:rPr dirty="0"/>
              <a:t>load arrays on startup, rewrite inventory after edits, append log entries instantly.</a:t>
            </a:r>
            <a:endParaRPr lang="en-US" dirty="0"/>
          </a:p>
          <a:p>
            <a:pPr>
              <a:spcAft>
                <a:spcPts val="400"/>
              </a:spcAft>
              <a:defRPr sz="2100">
                <a:solidFill>
                  <a:srgbClr val="222830"/>
                </a:solidFill>
              </a:defRPr>
            </a:pPr>
            <a:endParaRPr dirty="0"/>
          </a:p>
          <a:p>
            <a:pPr>
              <a:spcAft>
                <a:spcPts val="400"/>
              </a:spcAft>
              <a:defRPr sz="2100">
                <a:solidFill>
                  <a:srgbClr val="222830"/>
                </a:solidFill>
              </a:defRPr>
            </a:pPr>
            <a:r>
              <a:rPr b="1" dirty="0"/>
              <a:t>Safeguards: </a:t>
            </a:r>
            <a:r>
              <a:rPr dirty="0"/>
              <a:t>Header validation, numeric checks, and auto-regeneration for missing files.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6217920"/>
            <a:ext cx="9445752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7E8999"/>
                </a:solidFill>
              </a:defRPr>
            </a:pPr>
            <a:r>
              <a:t>File Handling Overview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00232" y="6217920"/>
            <a:ext cx="8229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7E8999"/>
                </a:solidFill>
              </a:defRPr>
            </a:pPr>
            <a:r>
              <a:t>03</a:t>
            </a:r>
          </a:p>
        </p:txBody>
      </p:sp>
    </p:spTree>
  </p:cSld>
  <p:clrMapOvr>
    <a:masterClrMapping/>
  </p:clrMapOvr>
  <p:transition spd="slow">
    <p:push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rgbClr val="F9FBFE"/>
            </a:gs>
            <a:gs pos="100000">
              <a:srgbClr val="E1E6ED"/>
            </a:gs>
          </a:gsLst>
          <a:lin ang="162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ounded Rectangle 3"/>
          <p:cNvSpPr/>
          <p:nvPr/>
        </p:nvSpPr>
        <p:spPr>
          <a:xfrm>
            <a:off x="457200" y="320040"/>
            <a:ext cx="960120" cy="411480"/>
          </a:xfrm>
          <a:prstGeom prst="roundRect">
            <a:avLst/>
          </a:prstGeom>
          <a:solidFill>
            <a:srgbClr val="4AC7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1800" b="1">
                <a:solidFill>
                  <a:srgbClr val="0E1926"/>
                </a:solidFill>
              </a:defRPr>
            </a:pPr>
            <a:r>
              <a:t>04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868680"/>
            <a:ext cx="10360152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400" b="1">
                <a:solidFill>
                  <a:srgbClr val="0E1926"/>
                </a:solidFill>
              </a:defRPr>
            </a:pPr>
            <a:r>
              <a:t>Code Structure</a:t>
            </a:r>
          </a:p>
          <a:p>
            <a:pPr>
              <a:defRPr sz="1800">
                <a:solidFill>
                  <a:srgbClr val="7E8999"/>
                </a:solidFill>
              </a:defRPr>
            </a:pPr>
            <a:r>
              <a:t>Classes • Methods • Modularity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1920240"/>
            <a:ext cx="10633680" cy="303672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400"/>
              </a:spcAft>
              <a:defRPr sz="2100">
                <a:solidFill>
                  <a:srgbClr val="222830"/>
                </a:solidFill>
              </a:defRPr>
            </a:pPr>
            <a:r>
              <a:rPr b="1" dirty="0" err="1"/>
              <a:t>EcoMatic</a:t>
            </a:r>
            <a:r>
              <a:rPr dirty="0"/>
              <a:t> coordinates menus, balance handling, inventory updates, and logging.</a:t>
            </a:r>
            <a:endParaRPr lang="en-US" dirty="0"/>
          </a:p>
          <a:p>
            <a:pPr>
              <a:spcAft>
                <a:spcPts val="400"/>
              </a:spcAft>
              <a:defRPr sz="2100">
                <a:solidFill>
                  <a:srgbClr val="222830"/>
                </a:solidFill>
              </a:defRPr>
            </a:pPr>
            <a:endParaRPr dirty="0"/>
          </a:p>
          <a:p>
            <a:pPr>
              <a:spcAft>
                <a:spcPts val="400"/>
              </a:spcAft>
              <a:defRPr sz="2100">
                <a:solidFill>
                  <a:srgbClr val="222830"/>
                </a:solidFill>
              </a:defRPr>
            </a:pPr>
            <a:r>
              <a:rPr b="1" dirty="0" err="1"/>
              <a:t>VendingItem</a:t>
            </a:r>
            <a:r>
              <a:rPr dirty="0"/>
              <a:t> base + Snack/Drink/Misc overrides deliver flavor text and CSV serialization.</a:t>
            </a:r>
            <a:endParaRPr lang="en-US" dirty="0"/>
          </a:p>
          <a:p>
            <a:pPr>
              <a:spcAft>
                <a:spcPts val="400"/>
              </a:spcAft>
              <a:defRPr sz="2100">
                <a:solidFill>
                  <a:srgbClr val="222830"/>
                </a:solidFill>
              </a:defRPr>
            </a:pPr>
            <a:endParaRPr dirty="0"/>
          </a:p>
          <a:p>
            <a:pPr>
              <a:spcAft>
                <a:spcPts val="400"/>
              </a:spcAft>
              <a:defRPr sz="2100">
                <a:solidFill>
                  <a:srgbClr val="222830"/>
                </a:solidFill>
              </a:defRPr>
            </a:pPr>
            <a:r>
              <a:rPr dirty="0"/>
              <a:t>Helpers (</a:t>
            </a:r>
            <a:r>
              <a:rPr b="1" dirty="0"/>
              <a:t>Write</a:t>
            </a:r>
            <a:r>
              <a:rPr dirty="0"/>
              <a:t>, </a:t>
            </a:r>
            <a:r>
              <a:rPr b="1" dirty="0" err="1"/>
              <a:t>TransactionTracker</a:t>
            </a:r>
            <a:r>
              <a:rPr dirty="0"/>
              <a:t>, </a:t>
            </a:r>
            <a:r>
              <a:rPr b="1" dirty="0" err="1"/>
              <a:t>RecycleTracker</a:t>
            </a:r>
            <a:r>
              <a:rPr dirty="0"/>
              <a:t>, </a:t>
            </a:r>
            <a:r>
              <a:rPr b="1" dirty="0" err="1"/>
              <a:t>SalesReport</a:t>
            </a:r>
            <a:r>
              <a:rPr dirty="0"/>
              <a:t>) isolate responsibilities</a:t>
            </a:r>
            <a:r>
              <a:rPr lang="en-US" dirty="0"/>
              <a:t> / make</a:t>
            </a:r>
          </a:p>
          <a:p>
            <a:pPr>
              <a:spcAft>
                <a:spcPts val="400"/>
              </a:spcAft>
              <a:defRPr sz="2100">
                <a:solidFill>
                  <a:srgbClr val="222830"/>
                </a:solidFill>
              </a:defRPr>
            </a:pPr>
            <a:r>
              <a:rPr lang="en-US" dirty="0"/>
              <a:t>code more maintainable/readable</a:t>
            </a:r>
            <a:r>
              <a:rPr dirty="0"/>
              <a:t>.</a:t>
            </a:r>
            <a:endParaRPr lang="en-US" dirty="0"/>
          </a:p>
          <a:p>
            <a:pPr>
              <a:spcAft>
                <a:spcPts val="400"/>
              </a:spcAft>
              <a:defRPr sz="2100">
                <a:solidFill>
                  <a:srgbClr val="222830"/>
                </a:solidFill>
              </a:defRPr>
            </a:pPr>
            <a:endParaRPr dirty="0"/>
          </a:p>
          <a:p>
            <a:pPr>
              <a:spcAft>
                <a:spcPts val="400"/>
              </a:spcAft>
              <a:defRPr sz="2100">
                <a:solidFill>
                  <a:srgbClr val="222830"/>
                </a:solidFill>
              </a:defRPr>
            </a:pPr>
            <a:r>
              <a:rPr b="1" dirty="0"/>
              <a:t>Modularity</a:t>
            </a:r>
            <a:r>
              <a:rPr dirty="0"/>
              <a:t>: Constants define slot/stock limits to keep the single-file layout readable.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6217920"/>
            <a:ext cx="9445752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7E8999"/>
                </a:solidFill>
              </a:defRPr>
            </a:pPr>
            <a:r>
              <a:t>Code Structure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00232" y="6217920"/>
            <a:ext cx="8229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7E8999"/>
                </a:solidFill>
              </a:defRPr>
            </a:pPr>
            <a:r>
              <a:t>04</a:t>
            </a:r>
          </a:p>
        </p:txBody>
      </p:sp>
    </p:spTree>
  </p:cSld>
  <p:clrMapOvr>
    <a:masterClrMapping/>
  </p:clrMapOvr>
  <p:transition spd="slow">
    <p:push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rgbClr val="F9FBFE"/>
            </a:gs>
            <a:gs pos="100000">
              <a:srgbClr val="E1E6ED"/>
            </a:gs>
          </a:gsLst>
          <a:lin ang="162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ounded Rectangle 3"/>
          <p:cNvSpPr/>
          <p:nvPr/>
        </p:nvSpPr>
        <p:spPr>
          <a:xfrm>
            <a:off x="457200" y="320040"/>
            <a:ext cx="960120" cy="411480"/>
          </a:xfrm>
          <a:prstGeom prst="roundRect">
            <a:avLst/>
          </a:prstGeom>
          <a:solidFill>
            <a:srgbClr val="FFC4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1800" b="1">
                <a:solidFill>
                  <a:srgbClr val="3C2814"/>
                </a:solidFill>
              </a:defRPr>
            </a:pPr>
            <a:r>
              <a:t>05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868680"/>
            <a:ext cx="2964979" cy="89255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400" b="1">
                <a:solidFill>
                  <a:srgbClr val="0E1926"/>
                </a:solidFill>
              </a:defRPr>
            </a:pPr>
            <a:r>
              <a:rPr dirty="0"/>
              <a:t>User Interface</a:t>
            </a:r>
          </a:p>
          <a:p>
            <a:pPr>
              <a:defRPr sz="1800">
                <a:solidFill>
                  <a:srgbClr val="7E8999"/>
                </a:solidFill>
              </a:defRPr>
            </a:pPr>
            <a:r>
              <a:rPr dirty="0"/>
              <a:t>Design • Input/Output • </a:t>
            </a:r>
            <a:r>
              <a:rPr lang="en-US" dirty="0"/>
              <a:t>Flow</a:t>
            </a:r>
            <a:endParaRPr dirty="0"/>
          </a:p>
        </p:txBody>
      </p:sp>
      <p:sp>
        <p:nvSpPr>
          <p:cNvPr id="6" name="TextBox 5"/>
          <p:cNvSpPr txBox="1"/>
          <p:nvPr/>
        </p:nvSpPr>
        <p:spPr>
          <a:xfrm>
            <a:off x="914400" y="1920240"/>
            <a:ext cx="10271723" cy="191334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400"/>
              </a:spcAft>
              <a:defRPr sz="2100">
                <a:solidFill>
                  <a:srgbClr val="222830"/>
                </a:solidFill>
              </a:defRPr>
            </a:pPr>
            <a:r>
              <a:rPr b="1" dirty="0" err="1"/>
              <a:t>Spectre.Console</a:t>
            </a:r>
            <a:r>
              <a:rPr b="1" dirty="0"/>
              <a:t> </a:t>
            </a:r>
            <a:r>
              <a:rPr dirty="0"/>
              <a:t>tables and color-coded stock dots create a dashboard look.</a:t>
            </a:r>
            <a:endParaRPr lang="en-US" dirty="0"/>
          </a:p>
          <a:p>
            <a:pPr>
              <a:spcAft>
                <a:spcPts val="400"/>
              </a:spcAft>
              <a:defRPr sz="2100">
                <a:solidFill>
                  <a:srgbClr val="222830"/>
                </a:solidFill>
              </a:defRPr>
            </a:pPr>
            <a:endParaRPr dirty="0"/>
          </a:p>
          <a:p>
            <a:pPr>
              <a:spcAft>
                <a:spcPts val="400"/>
              </a:spcAft>
              <a:defRPr sz="2100">
                <a:solidFill>
                  <a:srgbClr val="222830"/>
                </a:solidFill>
              </a:defRPr>
            </a:pPr>
            <a:r>
              <a:rPr b="1" dirty="0"/>
              <a:t>Customer path</a:t>
            </a:r>
            <a:r>
              <a:rPr dirty="0"/>
              <a:t>: insert bills</a:t>
            </a:r>
            <a:r>
              <a:rPr lang="en-US" dirty="0"/>
              <a:t>,</a:t>
            </a:r>
            <a:r>
              <a:rPr dirty="0"/>
              <a:t> examine</a:t>
            </a:r>
            <a:r>
              <a:rPr lang="en-US" dirty="0"/>
              <a:t> items, </a:t>
            </a:r>
            <a:r>
              <a:rPr dirty="0"/>
              <a:t>buy items</a:t>
            </a:r>
            <a:r>
              <a:rPr lang="en-US" dirty="0"/>
              <a:t>,</a:t>
            </a:r>
            <a:r>
              <a:rPr dirty="0"/>
              <a:t> recycle</a:t>
            </a:r>
            <a:r>
              <a:rPr lang="en-US" dirty="0"/>
              <a:t>, </a:t>
            </a:r>
            <a:r>
              <a:rPr dirty="0"/>
              <a:t>receive change + receipt.</a:t>
            </a:r>
            <a:endParaRPr lang="en-US" dirty="0"/>
          </a:p>
          <a:p>
            <a:pPr>
              <a:spcAft>
                <a:spcPts val="400"/>
              </a:spcAft>
              <a:defRPr sz="2100">
                <a:solidFill>
                  <a:srgbClr val="222830"/>
                </a:solidFill>
              </a:defRPr>
            </a:pPr>
            <a:endParaRPr dirty="0"/>
          </a:p>
          <a:p>
            <a:pPr>
              <a:spcAft>
                <a:spcPts val="400"/>
              </a:spcAft>
              <a:defRPr sz="2100">
                <a:solidFill>
                  <a:srgbClr val="222830"/>
                </a:solidFill>
              </a:defRPr>
            </a:pPr>
            <a:r>
              <a:rPr b="1" dirty="0"/>
              <a:t>Admin path: </a:t>
            </a:r>
            <a:r>
              <a:rPr dirty="0"/>
              <a:t>password gate for restock, add/remove items, view/clear logs, run sales report.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6217920"/>
            <a:ext cx="9445752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7E8999"/>
                </a:solidFill>
              </a:defRPr>
            </a:pPr>
            <a:r>
              <a:t>User Interface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00232" y="6217920"/>
            <a:ext cx="8229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7E8999"/>
                </a:solidFill>
              </a:defRPr>
            </a:pPr>
            <a:r>
              <a:t>05</a:t>
            </a:r>
          </a:p>
        </p:txBody>
      </p:sp>
    </p:spTree>
  </p:cSld>
  <p:clrMapOvr>
    <a:masterClrMapping/>
  </p:clrMapOvr>
  <p:transition spd="slow">
    <p:push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BDA14240-7277-B8F8-C23E-3F65DCCF0D1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9050" y="0"/>
            <a:ext cx="11350725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0151867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80AFD345-DC2D-D463-0C35-866E0DC0D90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3001" y="0"/>
            <a:ext cx="11102822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4070649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D68BC472-2ABC-23E3-7273-6228300242D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3001" y="0"/>
            <a:ext cx="11102822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2438806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rgbClr val="F9FBFE"/>
            </a:gs>
            <a:gs pos="100000">
              <a:srgbClr val="E1E6ED"/>
            </a:gs>
          </a:gsLst>
          <a:lin ang="162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ounded Rectangle 3"/>
          <p:cNvSpPr/>
          <p:nvPr/>
        </p:nvSpPr>
        <p:spPr>
          <a:xfrm>
            <a:off x="457200" y="320040"/>
            <a:ext cx="960120" cy="411480"/>
          </a:xfrm>
          <a:prstGeom prst="roundRect">
            <a:avLst/>
          </a:prstGeom>
          <a:solidFill>
            <a:srgbClr val="4AC7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1800" b="1">
                <a:solidFill>
                  <a:srgbClr val="0E1926"/>
                </a:solidFill>
              </a:defRPr>
            </a:pPr>
            <a:r>
              <a:t>06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868680"/>
            <a:ext cx="10360152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400" b="1">
                <a:solidFill>
                  <a:srgbClr val="0E1926"/>
                </a:solidFill>
              </a:defRPr>
            </a:pPr>
            <a:r>
              <a:t>Challenges &amp; Solutions</a:t>
            </a:r>
          </a:p>
          <a:p>
            <a:pPr>
              <a:defRPr sz="1800">
                <a:solidFill>
                  <a:srgbClr val="7E8999"/>
                </a:solidFill>
              </a:defRPr>
            </a:pPr>
            <a:r>
              <a:t>Development Hurdles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1920240"/>
            <a:ext cx="9001695" cy="191334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400"/>
              </a:spcAft>
              <a:defRPr sz="2100">
                <a:solidFill>
                  <a:srgbClr val="222830"/>
                </a:solidFill>
              </a:defRPr>
            </a:pPr>
            <a:r>
              <a:rPr b="1" dirty="0"/>
              <a:t>CSV integrity: </a:t>
            </a:r>
            <a:r>
              <a:rPr dirty="0"/>
              <a:t>validation + auto-rebuild routines prevent corruptio</a:t>
            </a:r>
            <a:r>
              <a:rPr lang="en-US" dirty="0"/>
              <a:t>n</a:t>
            </a:r>
            <a:r>
              <a:rPr dirty="0"/>
              <a:t>.</a:t>
            </a:r>
            <a:endParaRPr lang="en-US" dirty="0"/>
          </a:p>
          <a:p>
            <a:pPr>
              <a:spcAft>
                <a:spcPts val="400"/>
              </a:spcAft>
              <a:defRPr sz="2100">
                <a:solidFill>
                  <a:srgbClr val="222830"/>
                </a:solidFill>
              </a:defRPr>
            </a:pPr>
            <a:endParaRPr dirty="0"/>
          </a:p>
          <a:p>
            <a:pPr>
              <a:spcAft>
                <a:spcPts val="400"/>
              </a:spcAft>
              <a:defRPr sz="2100">
                <a:solidFill>
                  <a:srgbClr val="222830"/>
                </a:solidFill>
              </a:defRPr>
            </a:pPr>
            <a:r>
              <a:rPr b="1" dirty="0"/>
              <a:t>Array constraints: </a:t>
            </a:r>
            <a:r>
              <a:rPr dirty="0"/>
              <a:t>trackers reset every session to avoid overflow and stale data.</a:t>
            </a:r>
            <a:endParaRPr lang="en-US" dirty="0"/>
          </a:p>
          <a:p>
            <a:pPr>
              <a:spcAft>
                <a:spcPts val="400"/>
              </a:spcAft>
              <a:defRPr sz="2100">
                <a:solidFill>
                  <a:srgbClr val="222830"/>
                </a:solidFill>
              </a:defRPr>
            </a:pPr>
            <a:endParaRPr dirty="0"/>
          </a:p>
          <a:p>
            <a:pPr>
              <a:spcAft>
                <a:spcPts val="400"/>
              </a:spcAft>
              <a:defRPr sz="2100">
                <a:solidFill>
                  <a:srgbClr val="222830"/>
                </a:solidFill>
              </a:defRPr>
            </a:pPr>
            <a:r>
              <a:rPr b="1" dirty="0"/>
              <a:t>Single-file: </a:t>
            </a:r>
            <a:r>
              <a:rPr dirty="0"/>
              <a:t>helper classes and regions keep logic modular despite the constraint.</a:t>
            </a:r>
            <a:endParaRPr lang="en-US" dirty="0"/>
          </a:p>
        </p:txBody>
      </p:sp>
      <p:sp>
        <p:nvSpPr>
          <p:cNvPr id="7" name="TextBox 6"/>
          <p:cNvSpPr txBox="1"/>
          <p:nvPr/>
        </p:nvSpPr>
        <p:spPr>
          <a:xfrm>
            <a:off x="914400" y="6217920"/>
            <a:ext cx="9445752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7E8999"/>
                </a:solidFill>
              </a:defRPr>
            </a:pPr>
            <a:r>
              <a:t>Challenges &amp; Solutions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00232" y="6217920"/>
            <a:ext cx="8229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7E8999"/>
                </a:solidFill>
              </a:defRPr>
            </a:pPr>
            <a:r>
              <a:t>06</a:t>
            </a:r>
          </a:p>
        </p:txBody>
      </p:sp>
    </p:spTree>
  </p:cSld>
  <p:clrMapOvr>
    <a:masterClrMapping/>
  </p:clrMapOvr>
  <p:transition spd="slow">
    <p:push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rgbClr val="F9FBFE"/>
            </a:gs>
            <a:gs pos="100000">
              <a:srgbClr val="E1E6ED"/>
            </a:gs>
          </a:gsLst>
          <a:lin ang="162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ounded Rectangle 3"/>
          <p:cNvSpPr/>
          <p:nvPr/>
        </p:nvSpPr>
        <p:spPr>
          <a:xfrm>
            <a:off x="457200" y="320040"/>
            <a:ext cx="960120" cy="411480"/>
          </a:xfrm>
          <a:prstGeom prst="roundRect">
            <a:avLst/>
          </a:prstGeom>
          <a:solidFill>
            <a:srgbClr val="FFC4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1800" b="1">
                <a:solidFill>
                  <a:srgbClr val="3C2814"/>
                </a:solidFill>
              </a:defRPr>
            </a:pPr>
            <a:r>
              <a:t>07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868680"/>
            <a:ext cx="10360152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400" b="1">
                <a:solidFill>
                  <a:srgbClr val="0E1926"/>
                </a:solidFill>
              </a:defRPr>
            </a:pPr>
            <a:r>
              <a:t>Testing</a:t>
            </a:r>
          </a:p>
          <a:p>
            <a:pPr>
              <a:defRPr sz="1800">
                <a:solidFill>
                  <a:srgbClr val="7E8999"/>
                </a:solidFill>
              </a:defRPr>
            </a:pPr>
            <a:r>
              <a:t>Cases • Results • Limitations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1920240"/>
            <a:ext cx="9867766" cy="41549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400"/>
              </a:spcAft>
              <a:defRPr sz="2100">
                <a:solidFill>
                  <a:srgbClr val="222830"/>
                </a:solidFill>
              </a:defRPr>
            </a:pPr>
            <a:r>
              <a:rPr b="1" dirty="0"/>
              <a:t>Cases: </a:t>
            </a:r>
            <a:r>
              <a:rPr dirty="0"/>
              <a:t>normal purchases, insufficient funds, sold-out items, recycle bounds, admin tasks.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6217920"/>
            <a:ext cx="9445752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7E8999"/>
                </a:solidFill>
              </a:defRPr>
            </a:pPr>
            <a:r>
              <a:t>Testing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00232" y="6217920"/>
            <a:ext cx="8229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7E8999"/>
                </a:solidFill>
              </a:defRPr>
            </a:pPr>
            <a:r>
              <a:t>07</a:t>
            </a:r>
          </a:p>
        </p:txBody>
      </p:sp>
    </p:spTree>
  </p:cSld>
  <p:clrMapOvr>
    <a:masterClrMapping/>
  </p:clrMapOvr>
  <p:transition spd="slow">
    <p:push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rgbClr val="F9FBFE"/>
            </a:gs>
            <a:gs pos="100000">
              <a:srgbClr val="E1E6ED"/>
            </a:gs>
          </a:gsLst>
          <a:lin ang="162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ounded Rectangle 3"/>
          <p:cNvSpPr/>
          <p:nvPr/>
        </p:nvSpPr>
        <p:spPr>
          <a:xfrm>
            <a:off x="457200" y="320040"/>
            <a:ext cx="960120" cy="411480"/>
          </a:xfrm>
          <a:prstGeom prst="roundRect">
            <a:avLst/>
          </a:prstGeom>
          <a:solidFill>
            <a:srgbClr val="4AC7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1800" b="1">
                <a:solidFill>
                  <a:srgbClr val="0E1926"/>
                </a:solidFill>
              </a:defRPr>
            </a:pPr>
            <a:r>
              <a:t>08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868680"/>
            <a:ext cx="10360152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400" b="1">
                <a:solidFill>
                  <a:srgbClr val="0E1926"/>
                </a:solidFill>
              </a:defRPr>
            </a:pPr>
            <a:r>
              <a:t>Future Enhancements</a:t>
            </a:r>
          </a:p>
          <a:p>
            <a:pPr>
              <a:defRPr sz="1800">
                <a:solidFill>
                  <a:srgbClr val="7E8999"/>
                </a:solidFill>
              </a:defRPr>
            </a:pPr>
            <a:r>
              <a:t>Planned Features • Performance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1920240"/>
            <a:ext cx="7961795" cy="191334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400"/>
              </a:spcAft>
              <a:defRPr sz="2100">
                <a:solidFill>
                  <a:srgbClr val="222830"/>
                </a:solidFill>
              </a:defRPr>
            </a:pPr>
            <a:r>
              <a:rPr dirty="0"/>
              <a:t>Refactor by splitting </a:t>
            </a:r>
            <a:r>
              <a:rPr b="1" dirty="0" err="1"/>
              <a:t>Program.cs</a:t>
            </a:r>
            <a:r>
              <a:rPr b="1" dirty="0"/>
              <a:t> </a:t>
            </a:r>
            <a:r>
              <a:rPr dirty="0"/>
              <a:t>and adopting collections for scalability.</a:t>
            </a:r>
            <a:endParaRPr lang="en-US" dirty="0"/>
          </a:p>
          <a:p>
            <a:pPr>
              <a:spcAft>
                <a:spcPts val="400"/>
              </a:spcAft>
              <a:defRPr sz="2100">
                <a:solidFill>
                  <a:srgbClr val="222830"/>
                </a:solidFill>
              </a:defRPr>
            </a:pPr>
            <a:endParaRPr dirty="0"/>
          </a:p>
          <a:p>
            <a:pPr>
              <a:spcAft>
                <a:spcPts val="400"/>
              </a:spcAft>
              <a:defRPr sz="2100">
                <a:solidFill>
                  <a:srgbClr val="222830"/>
                </a:solidFill>
              </a:defRPr>
            </a:pPr>
            <a:r>
              <a:rPr b="1" dirty="0"/>
              <a:t>Analytics: </a:t>
            </a:r>
            <a:r>
              <a:rPr dirty="0"/>
              <a:t>configurable recycle catalog plus multi-day dashboards.</a:t>
            </a:r>
            <a:endParaRPr lang="en-US" dirty="0"/>
          </a:p>
          <a:p>
            <a:pPr>
              <a:spcAft>
                <a:spcPts val="400"/>
              </a:spcAft>
              <a:defRPr sz="2100">
                <a:solidFill>
                  <a:srgbClr val="222830"/>
                </a:solidFill>
              </a:defRPr>
            </a:pPr>
            <a:endParaRPr dirty="0"/>
          </a:p>
          <a:p>
            <a:pPr>
              <a:spcAft>
                <a:spcPts val="400"/>
              </a:spcAft>
              <a:defRPr sz="2100">
                <a:solidFill>
                  <a:srgbClr val="222830"/>
                </a:solidFill>
              </a:defRPr>
            </a:pPr>
            <a:r>
              <a:rPr lang="en-US" b="1" dirty="0"/>
              <a:t>UI</a:t>
            </a:r>
            <a:r>
              <a:rPr b="1" dirty="0"/>
              <a:t>: </a:t>
            </a:r>
            <a:r>
              <a:rPr dirty="0"/>
              <a:t>GUI</a:t>
            </a:r>
            <a:endParaRPr lang="en-US" dirty="0"/>
          </a:p>
        </p:txBody>
      </p:sp>
      <p:sp>
        <p:nvSpPr>
          <p:cNvPr id="7" name="TextBox 6"/>
          <p:cNvSpPr txBox="1"/>
          <p:nvPr/>
        </p:nvSpPr>
        <p:spPr>
          <a:xfrm>
            <a:off x="914400" y="6217920"/>
            <a:ext cx="9445752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7E8999"/>
                </a:solidFill>
              </a:defRPr>
            </a:pPr>
            <a:r>
              <a:t>Future Enhancements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00232" y="6217920"/>
            <a:ext cx="8229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7E8999"/>
                </a:solidFill>
              </a:defRPr>
            </a:pPr>
            <a:r>
              <a:t>08</a:t>
            </a:r>
          </a:p>
        </p:txBody>
      </p:sp>
    </p:spTree>
  </p:cSld>
  <p:clrMapOvr>
    <a:masterClrMapping/>
  </p:clrMapOvr>
  <p:transition spd="slow">
    <p:push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rgbClr val="F9FBFE"/>
            </a:gs>
            <a:gs pos="100000">
              <a:srgbClr val="E1E6ED"/>
            </a:gs>
          </a:gsLst>
          <a:lin ang="162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ounded Rectangle 3"/>
          <p:cNvSpPr/>
          <p:nvPr/>
        </p:nvSpPr>
        <p:spPr>
          <a:xfrm>
            <a:off x="457200" y="320040"/>
            <a:ext cx="960120" cy="411480"/>
          </a:xfrm>
          <a:prstGeom prst="roundRect">
            <a:avLst/>
          </a:prstGeom>
          <a:solidFill>
            <a:srgbClr val="FFC4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1800" b="1">
                <a:solidFill>
                  <a:srgbClr val="3C2814"/>
                </a:solidFill>
              </a:defRPr>
            </a:pPr>
            <a:r>
              <a:t>09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868680"/>
            <a:ext cx="10360152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400" b="1">
                <a:solidFill>
                  <a:srgbClr val="0E1926"/>
                </a:solidFill>
              </a:defRPr>
            </a:pPr>
            <a:r>
              <a:t>Conclusion</a:t>
            </a:r>
          </a:p>
          <a:p>
            <a:pPr>
              <a:defRPr sz="1800">
                <a:solidFill>
                  <a:srgbClr val="7E8999"/>
                </a:solidFill>
              </a:defRPr>
            </a:pPr>
            <a:r>
              <a:t>Reflection • Takeaways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1920240"/>
            <a:ext cx="8884099" cy="1538883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400"/>
              </a:spcAft>
              <a:defRPr sz="2100">
                <a:solidFill>
                  <a:srgbClr val="222830"/>
                </a:solidFill>
              </a:defRPr>
            </a:pPr>
            <a:r>
              <a:rPr lang="en-US" dirty="0"/>
              <a:t>This project deepen my knowledge on the concept of </a:t>
            </a:r>
            <a:r>
              <a:rPr dirty="0"/>
              <a:t>OOP</a:t>
            </a:r>
            <a:endParaRPr lang="en-US" dirty="0"/>
          </a:p>
          <a:p>
            <a:pPr>
              <a:spcAft>
                <a:spcPts val="400"/>
              </a:spcAft>
              <a:defRPr sz="2100">
                <a:solidFill>
                  <a:srgbClr val="222830"/>
                </a:solidFill>
              </a:defRPr>
            </a:pPr>
            <a:r>
              <a:rPr lang="en-US" dirty="0"/>
              <a:t>I also learned to implement </a:t>
            </a:r>
            <a:r>
              <a:rPr dirty="0"/>
              <a:t>file I/O</a:t>
            </a:r>
            <a:r>
              <a:rPr lang="en-US" dirty="0"/>
              <a:t> in my program,</a:t>
            </a:r>
          </a:p>
          <a:p>
            <a:pPr>
              <a:spcAft>
                <a:spcPts val="400"/>
              </a:spcAft>
              <a:defRPr sz="2100">
                <a:solidFill>
                  <a:srgbClr val="222830"/>
                </a:solidFill>
              </a:defRPr>
            </a:pPr>
            <a:r>
              <a:rPr lang="en-US" dirty="0"/>
              <a:t>and improved my overall coding design.</a:t>
            </a:r>
          </a:p>
          <a:p>
            <a:pPr>
              <a:spcAft>
                <a:spcPts val="400"/>
              </a:spcAft>
              <a:defRPr sz="2100">
                <a:solidFill>
                  <a:srgbClr val="222830"/>
                </a:solidFill>
              </a:defRPr>
            </a:pPr>
            <a:r>
              <a:rPr lang="en-US" dirty="0"/>
              <a:t>Learned that </a:t>
            </a:r>
            <a:r>
              <a:rPr dirty="0"/>
              <a:t>sustainability </a:t>
            </a:r>
            <a:r>
              <a:rPr lang="en-US" dirty="0"/>
              <a:t>developments</a:t>
            </a:r>
            <a:r>
              <a:rPr dirty="0"/>
              <a:t> can </a:t>
            </a:r>
            <a:r>
              <a:rPr lang="en-US" dirty="0"/>
              <a:t>be solved</a:t>
            </a:r>
            <a:r>
              <a:rPr dirty="0"/>
              <a:t> </a:t>
            </a:r>
            <a:r>
              <a:rPr lang="en-US" dirty="0"/>
              <a:t>through technical ways</a:t>
            </a:r>
            <a:r>
              <a:rPr dirty="0"/>
              <a:t>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6217920"/>
            <a:ext cx="9445752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7E8999"/>
                </a:solidFill>
              </a:defRPr>
            </a:pPr>
            <a:r>
              <a:t>Conclusion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00232" y="6217920"/>
            <a:ext cx="8229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7E8999"/>
                </a:solidFill>
              </a:defRPr>
            </a:pPr>
            <a:r>
              <a:t>09</a:t>
            </a:r>
          </a:p>
        </p:txBody>
      </p:sp>
    </p:spTree>
  </p:cSld>
  <p:clrMapOvr>
    <a:masterClrMapping/>
  </p:clrMapOvr>
  <p:transition spd="slow">
    <p:push/>
  </p:transition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rgbClr val="F9FBFE"/>
            </a:gs>
            <a:gs pos="100000">
              <a:srgbClr val="E1E6ED"/>
            </a:gs>
          </a:gsLst>
          <a:lin ang="162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ounded Rectangle 3"/>
          <p:cNvSpPr/>
          <p:nvPr/>
        </p:nvSpPr>
        <p:spPr>
          <a:xfrm>
            <a:off x="457200" y="320040"/>
            <a:ext cx="960120" cy="411480"/>
          </a:xfrm>
          <a:prstGeom prst="roundRect">
            <a:avLst/>
          </a:prstGeom>
          <a:solidFill>
            <a:srgbClr val="FFC4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1800" b="1">
                <a:solidFill>
                  <a:srgbClr val="3C2814"/>
                </a:solidFill>
              </a:defRPr>
            </a:pPr>
            <a:r>
              <a:t>10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868680"/>
            <a:ext cx="10360152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400" b="1">
                <a:solidFill>
                  <a:srgbClr val="0E1926"/>
                </a:solidFill>
              </a:defRPr>
            </a:pPr>
            <a:r>
              <a:t>Appendix</a:t>
            </a:r>
          </a:p>
          <a:p>
            <a:pPr>
              <a:defRPr sz="1800">
                <a:solidFill>
                  <a:srgbClr val="7E8999"/>
                </a:solidFill>
              </a:defRPr>
            </a:pPr>
            <a:r>
              <a:t>Source Code &amp; References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1828800"/>
            <a:ext cx="4440190" cy="754053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4AC7B2"/>
                </a:solidFill>
              </a:defRPr>
            </a:pPr>
            <a:r>
              <a:rPr dirty="0"/>
              <a:t>Source Code</a:t>
            </a:r>
          </a:p>
          <a:p>
            <a:pPr>
              <a:spcAft>
                <a:spcPts val="400"/>
              </a:spcAft>
              <a:defRPr sz="1900">
                <a:solidFill>
                  <a:srgbClr val="222830"/>
                </a:solidFill>
              </a:defRPr>
            </a:pPr>
            <a:r>
              <a:rPr lang="en-US" dirty="0"/>
              <a:t>https://github.com/SeanixReal/Eco-Matic</a:t>
            </a:r>
            <a:endParaRPr dirty="0"/>
          </a:p>
        </p:txBody>
      </p:sp>
      <p:sp>
        <p:nvSpPr>
          <p:cNvPr id="7" name="TextBox 6"/>
          <p:cNvSpPr txBox="1"/>
          <p:nvPr/>
        </p:nvSpPr>
        <p:spPr>
          <a:xfrm>
            <a:off x="937260" y="3429000"/>
            <a:ext cx="9907328" cy="139012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C478"/>
                </a:solidFill>
              </a:defRPr>
            </a:pPr>
            <a:r>
              <a:rPr dirty="0"/>
              <a:t>References</a:t>
            </a:r>
          </a:p>
          <a:p>
            <a:pPr>
              <a:spcAft>
                <a:spcPts val="400"/>
              </a:spcAft>
              <a:defRPr sz="1900">
                <a:solidFill>
                  <a:srgbClr val="222830"/>
                </a:solidFill>
              </a:defRPr>
            </a:pPr>
            <a:r>
              <a:rPr dirty="0" err="1"/>
              <a:t>Spectre.Console</a:t>
            </a:r>
            <a:r>
              <a:rPr lang="en-US" dirty="0"/>
              <a:t> https://spectreconsole.net/</a:t>
            </a:r>
            <a:br>
              <a:rPr lang="en-US" dirty="0"/>
            </a:br>
            <a:r>
              <a:rPr dirty="0"/>
              <a:t>.NET documentation for file handling and console APIs.</a:t>
            </a:r>
            <a:r>
              <a:rPr lang="en-US" dirty="0"/>
              <a:t> https://learn.microsoft.com/en-us/dotnet/</a:t>
            </a:r>
            <a:endParaRPr dirty="0"/>
          </a:p>
          <a:p>
            <a:pPr>
              <a:spcAft>
                <a:spcPts val="400"/>
              </a:spcAft>
              <a:defRPr sz="1900">
                <a:solidFill>
                  <a:srgbClr val="222830"/>
                </a:solidFill>
              </a:defRPr>
            </a:pPr>
            <a:r>
              <a:rPr dirty="0"/>
              <a:t>SDG inspiring the recycle-for-credit concept.</a:t>
            </a:r>
            <a:r>
              <a:rPr lang="en-US" dirty="0"/>
              <a:t> https://sdgs.un.org/goals</a:t>
            </a:r>
            <a:endParaRPr dirty="0"/>
          </a:p>
        </p:txBody>
      </p:sp>
      <p:sp>
        <p:nvSpPr>
          <p:cNvPr id="8" name="TextBox 7"/>
          <p:cNvSpPr txBox="1"/>
          <p:nvPr/>
        </p:nvSpPr>
        <p:spPr>
          <a:xfrm>
            <a:off x="914400" y="6217920"/>
            <a:ext cx="9445752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7E8999"/>
                </a:solidFill>
              </a:defRPr>
            </a:pPr>
            <a:r>
              <a:t>Appendix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000232" y="6217920"/>
            <a:ext cx="8229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7E8999"/>
                </a:solidFill>
              </a:defRPr>
            </a:pPr>
            <a:r>
              <a:t>10</a:t>
            </a:r>
          </a:p>
        </p:txBody>
      </p:sp>
    </p:spTree>
  </p:cSld>
  <p:clrMapOvr>
    <a:masterClrMapping/>
  </p:clrMapOvr>
  <p:transition spd="slow">
    <p:push/>
  </p:transition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30</TotalTime>
  <Words>589</Words>
  <Application>Microsoft Office PowerPoint</Application>
  <PresentationFormat>Custom</PresentationFormat>
  <Paragraphs>104</Paragraphs>
  <Slides>14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Sean Paul</dc:creator>
  <cp:keywords/>
  <dc:description>generated using python-pptx</dc:description>
  <cp:lastModifiedBy>Sean Paul</cp:lastModifiedBy>
  <cp:revision>5</cp:revision>
  <dcterms:created xsi:type="dcterms:W3CDTF">2013-01-27T09:14:16Z</dcterms:created>
  <dcterms:modified xsi:type="dcterms:W3CDTF">2025-11-17T01:57:40Z</dcterms:modified>
  <cp:category/>
</cp:coreProperties>
</file>